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dfb6dfaa6344041" /><Relationship Type="http://schemas.openxmlformats.org/officeDocument/2006/relationships/extended-properties" Target="/docProps/app.xml" Id="Rfa4c696e451f4d0d" /><Relationship Type="http://schemas.openxmlformats.org/officeDocument/2006/relationships/officeDocument" Target="/ppt/presentation.xml" Id="Rc563fa0000f34fc7" /></Relationships>
</file>

<file path=ppt/presentation.xml><?xml version="1.0" encoding="utf-8"?>
<p:presentation xmlns:p="http://schemas.openxmlformats.org/presentationml/2006/main">
  <p:sldMasterIdLst>
    <p:sldMasterId xmlns:r="http://schemas.openxmlformats.org/officeDocument/2006/relationships" id="2147483648" r:id="R4e4569b389d64e3b"/>
  </p:sldMasterIdLst>
  <p:notesMasterIdLst>
    <p:notesMasterId xmlns:r="http://schemas.openxmlformats.org/officeDocument/2006/relationships" r:id="R02b7ce74f0714114"/>
  </p:notesMasterIdLst>
  <p:sldIdLst>
    <p:sldId xmlns:r="http://schemas.openxmlformats.org/officeDocument/2006/relationships" id="256" r:id="R3c78467cbed04c5c"/>
    <p:sldId xmlns:r="http://schemas.openxmlformats.org/officeDocument/2006/relationships" id="257" r:id="R65c222185b3c46a2"/>
    <p:sldId xmlns:r="http://schemas.openxmlformats.org/officeDocument/2006/relationships" id="258" r:id="Rfb503fd79b00454f"/>
    <p:sldId xmlns:r="http://schemas.openxmlformats.org/officeDocument/2006/relationships" id="259" r:id="Rb1aaa8904be145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73deddd34f4366" /><Relationship Type="http://schemas.openxmlformats.org/officeDocument/2006/relationships/slideMaster" Target="/ppt/slideMasters/slideMaster1.xml" Id="R4e4569b389d64e3b" /><Relationship Type="http://schemas.openxmlformats.org/officeDocument/2006/relationships/notesMaster" Target="/ppt/notesMasters/notesMaster1.xml" Id="R02b7ce74f0714114" /><Relationship Type="http://schemas.openxmlformats.org/officeDocument/2006/relationships/presProps" Target="/ppt/presProps.xml" Id="R7d9780604183430f" /><Relationship Type="http://schemas.openxmlformats.org/officeDocument/2006/relationships/tableStyles" Target="/ppt/tableStyles.xml" Id="R3480180009ff4ac3" /><Relationship Type="http://schemas.openxmlformats.org/officeDocument/2006/relationships/slide" Target="/ppt/slides/slide1.xml" Id="R3c78467cbed04c5c" /><Relationship Type="http://schemas.openxmlformats.org/officeDocument/2006/relationships/slide" Target="/ppt/slides/slide2.xml" Id="R65c222185b3c46a2" /><Relationship Type="http://schemas.openxmlformats.org/officeDocument/2006/relationships/slide" Target="/ppt/slides/slide3.xml" Id="Rfb503fd79b00454f" /><Relationship Type="http://schemas.openxmlformats.org/officeDocument/2006/relationships/slide" Target="/ppt/slides/slide4.xml" Id="Rb1aaa8904be145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96a3aca0524a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f04582fc0941c5" /><Relationship Type="http://schemas.openxmlformats.org/officeDocument/2006/relationships/notesMaster" Target="/ppt/notesMasters/notesMaster1.xml" Id="Rafbd7e8b757e41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d4466fd7354998" /><Relationship Type="http://schemas.openxmlformats.org/officeDocument/2006/relationships/notesMaster" Target="/ppt/notesMasters/notesMaster1.xml" Id="R46ca2290036644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fdd22d37dd4563" /><Relationship Type="http://schemas.openxmlformats.org/officeDocument/2006/relationships/notesMaster" Target="/ppt/notesMasters/notesMaster1.xml" Id="R7de87497ad684f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54f101396c4d1c" /><Relationship Type="http://schemas.openxmlformats.org/officeDocument/2006/relationships/notesMaster" Target="/ppt/notesMasters/notesMaster1.xml" Id="R0b93f44cfcde49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introduction to the V1.14 direct gap study. Orange and blue dots represent the two possible physical outcomes. The mixed results near the centre illustrate the transition area that the adaptive test is designed to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workflow describes the V1.14 direct gap study. It deliberately excludes the separate pre-lab and fixed-gap qualification topics.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audit/v114/paper-reference.txt and audit/v114/validation-summary.txt. The dots show all 20 outcomes from the verified published-example replay. The curve uses the verified middle gap 5.3922 mm and overall variation 1.0412 mm.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view of the verified V1.14 selection sequence. Stage 1 finds both outcomes. Stage 2 Part 1 halves a wide separation. Stage 2 Part 2 uses repeated probes with the working variation multiplied by 0.8. After outcome overlap exists, D-optimal selection chooses an information-rich next target, then the physical model maps it to a reachable setting.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205abd1cb346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bf0189280f4651" /><Relationship Type="http://schemas.openxmlformats.org/officeDocument/2006/relationships/slideLayout" Target="/ppt/slideLayouts/slideLayout1.xml" Id="Rdb09e2ea30eb47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09e2ea30eb47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72581305bb4170" /><Relationship Type="http://schemas.openxmlformats.org/officeDocument/2006/relationships/notesSlide" Target="/ppt/notesSlides/notesSlide1.xml" Id="R54904033255745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5c81c8bd134f7c" /><Relationship Type="http://schemas.openxmlformats.org/officeDocument/2006/relationships/notesSlide" Target="/ppt/notesSlides/notesSlide2.xml" Id="Rafad1b4d19304c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f807fc270d4eae" /><Relationship Type="http://schemas.openxmlformats.org/officeDocument/2006/relationships/chart" Target="/ppt/slides/charts/chart1.xml" Id="Rf5df7cd175cb4208" /><Relationship Type="http://schemas.openxmlformats.org/officeDocument/2006/relationships/notesSlide" Target="/ppt/notesSlides/notesSlide3.xml" Id="R40bbba856c8948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c0db178f06409d" /><Relationship Type="http://schemas.openxmlformats.org/officeDocument/2006/relationships/notesSlide" Target="/ppt/notesSlides/notesSlide4.xml" Id="Rb657bf0a12d848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smoothMarker"/>
        <c:ser>
          <c:idx val="0"/>
          <c:order val="0"/>
          <c:tx>
            <c:v>Fitted chance of interaction</c:v>
          </c:tx>
          <c:spPr>
            <a:ln xmlns:a="http://schemas.openxmlformats.org/drawingml/2006/main" w="38100">
              <a:solidFill>
                <a:srgbClr val="176F68"/>
              </a:solidFill>
              <a:prstDash val="solid"/>
            </a:ln>
          </c:spPr>
          <c:marker>
            <c:symbol val="none"/>
          </c:marker>
          <c:xVal>
            <c:numRef>
              <c:f>'Chart Data'!$A$2:$A$52</c:f>
              <c:numCache>
                <c:formatCode>General</c:formatCode>
                <c:ptCount val="5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numCache>
            </c:numRef>
          </c:xVal>
          <c:yVal>
            <c:numRef>
              <c:f>'Chart Data'!$B$2:$B$52</c:f>
              <c:numCache>
                <c:formatCode>0"%"</c:formatCode>
                <c:ptCount val="51"/>
                <c:pt idx="0">
                  <c:v>100</c:v>
                </c:pt>
                <c:pt idx="1">
                  <c:v>100</c:v>
                </c:pt>
                <c:pt idx="2">
                  <c:v>100</c:v>
                </c:pt>
                <c:pt idx="3">
                  <c:v>100</c:v>
                </c:pt>
                <c:pt idx="4">
                  <c:v>100</c:v>
                </c:pt>
                <c:pt idx="5">
                  <c:v>100</c:v>
                </c:pt>
                <c:pt idx="6">
                  <c:v>100</c:v>
                </c:pt>
                <c:pt idx="7">
                  <c:v>99.99</c:v>
                </c:pt>
                <c:pt idx="8">
                  <c:v>99.99</c:v>
                </c:pt>
                <c:pt idx="9">
                  <c:v>99.97</c:v>
                </c:pt>
                <c:pt idx="10">
                  <c:v>99.94</c:v>
                </c:pt>
                <c:pt idx="11">
                  <c:v>99.89</c:v>
                </c:pt>
                <c:pt idx="12">
                  <c:v>99.8</c:v>
                </c:pt>
                <c:pt idx="13">
                  <c:v>99.63</c:v>
                </c:pt>
                <c:pt idx="14">
                  <c:v>99.36</c:v>
                </c:pt>
                <c:pt idx="15">
                  <c:v>98.92</c:v>
                </c:pt>
                <c:pt idx="16">
                  <c:v>98.24</c:v>
                </c:pt>
                <c:pt idx="17">
                  <c:v>97.21</c:v>
                </c:pt>
                <c:pt idx="18">
                  <c:v>95.74</c:v>
                </c:pt>
                <c:pt idx="19">
                  <c:v>93.69</c:v>
                </c:pt>
                <c:pt idx="20">
                  <c:v>90.94</c:v>
                </c:pt>
                <c:pt idx="21">
                  <c:v>87.39</c:v>
                </c:pt>
                <c:pt idx="22">
                  <c:v>82.97</c:v>
                </c:pt>
                <c:pt idx="23">
                  <c:v>77.66</c:v>
                </c:pt>
                <c:pt idx="24">
                  <c:v>71.52</c:v>
                </c:pt>
                <c:pt idx="25">
                  <c:v>64.68</c:v>
                </c:pt>
                <c:pt idx="26">
                  <c:v>57.32</c:v>
                </c:pt>
                <c:pt idx="27">
                  <c:v>49.7</c:v>
                </c:pt>
                <c:pt idx="28">
                  <c:v>42.09</c:v>
                </c:pt>
                <c:pt idx="29">
                  <c:v>34.77</c:v>
                </c:pt>
                <c:pt idx="30">
                  <c:v>27.97</c:v>
                </c:pt>
                <c:pt idx="31">
                  <c:v>21.89</c:v>
                </c:pt>
                <c:pt idx="32">
                  <c:v>16.65</c:v>
                </c:pt>
                <c:pt idx="33">
                  <c:v>12.3</c:v>
                </c:pt>
                <c:pt idx="34">
                  <c:v>8.82</c:v>
                </c:pt>
                <c:pt idx="35">
                  <c:v>6.13</c:v>
                </c:pt>
                <c:pt idx="36">
                  <c:v>4.13</c:v>
                </c:pt>
                <c:pt idx="37">
                  <c:v>2.69</c:v>
                </c:pt>
                <c:pt idx="38">
                  <c:v>1.7</c:v>
                </c:pt>
                <c:pt idx="39">
                  <c:v>1.04</c:v>
                </c:pt>
                <c:pt idx="40">
                  <c:v>0.61</c:v>
                </c:pt>
                <c:pt idx="41">
                  <c:v>0.35</c:v>
                </c:pt>
                <c:pt idx="42">
                  <c:v>0.19</c:v>
                </c:pt>
                <c:pt idx="43">
                  <c:v>0.1</c:v>
                </c:pt>
                <c:pt idx="44">
                  <c:v>0.05</c:v>
                </c:pt>
                <c:pt idx="45">
                  <c:v>0.03</c:v>
                </c:pt>
                <c:pt idx="46">
                  <c:v>0.01</c:v>
                </c:pt>
                <c:pt idx="47">
                  <c:v>0.01</c:v>
                </c:pt>
                <c:pt idx="48">
                  <c:v>0</c:v>
                </c:pt>
                <c:pt idx="49">
                  <c:v>0</c:v>
                </c:pt>
                <c:pt idx="50">
                  <c:v>0</c:v>
                </c:pt>
              </c:numCache>
            </c:numRef>
          </c:yVal>
        </c:ser>
        <c:ser>
          <c:idx val="1"/>
          <c:order val="1"/>
          <c:tx>
            <c:v>Interaction test</c:v>
          </c:tx>
          <c:spPr>
            <a:solidFill xmlns:a="http://schemas.openxmlformats.org/drawingml/2006/main">
              <a:srgbClr val="A95020"/>
            </a:solidFill>
            <a:ln xmlns:a="http://schemas.openxmlformats.org/drawingml/2006/main" w="0">
              <a:solidFill>
                <a:srgbClr val="A95020"/>
              </a:solidFill>
              <a:prstDash val="solid"/>
            </a:ln>
          </c:spPr>
          <c:marker>
            <c:symbol val="circle"/>
            <c:size val="8"/>
            <c:spPr>
              <a:solidFill xmlns:a="http://schemas.openxmlformats.org/drawingml/2006/main">
                <a:srgbClr val="A95020"/>
              </a:solidFill>
            </c:spPr>
          </c:marker>
          <c:xVal>
            <c:numRef>
              <c:f>'Chart Data'!$C$2:$C$14</c:f>
              <c:numCache>
                <c:formatCode>General</c:formatCode>
                <c:ptCount val="13"/>
                <c:pt idx="0">
                  <c:v>1</c:v>
                </c:pt>
                <c:pt idx="1">
                  <c:v>1.2</c:v>
                </c:pt>
                <c:pt idx="2">
                  <c:v>1.4</c:v>
                </c:pt>
                <c:pt idx="3">
                  <c:v>1.8</c:v>
                </c:pt>
                <c:pt idx="4">
                  <c:v>2.6</c:v>
                </c:pt>
                <c:pt idx="5">
                  <c:v>3.4</c:v>
                </c:pt>
                <c:pt idx="6">
                  <c:v>3.8</c:v>
                </c:pt>
                <c:pt idx="7">
                  <c:v>4</c:v>
                </c:pt>
                <c:pt idx="8">
                  <c:v>4.1</c:v>
                </c:pt>
                <c:pt idx="9">
                  <c:v>4.28</c:v>
                </c:pt>
                <c:pt idx="10">
                  <c:v>4.52</c:v>
                </c:pt>
                <c:pt idx="11">
                  <c:v>5.24</c:v>
                </c:pt>
                <c:pt idx="12">
                  <c:v>6.08</c:v>
                </c:pt>
              </c:numCache>
            </c:numRef>
          </c:xVal>
          <c:yVal>
            <c:numRef>
              <c:f>'Chart Data'!$D$2:$D$14</c:f>
              <c:numCache>
                <c:formatCode>0"%"</c:formatCode>
                <c:ptCount val="13"/>
                <c:pt idx="0">
                  <c:v>100</c:v>
                </c:pt>
                <c:pt idx="1">
                  <c:v>100</c:v>
                </c:pt>
                <c:pt idx="2">
                  <c:v>100</c:v>
                </c:pt>
                <c:pt idx="3">
                  <c:v>100</c:v>
                </c:pt>
                <c:pt idx="4">
                  <c:v>100</c:v>
                </c:pt>
                <c:pt idx="5">
                  <c:v>100</c:v>
                </c:pt>
                <c:pt idx="6">
                  <c:v>100</c:v>
                </c:pt>
                <c:pt idx="7">
                  <c:v>100</c:v>
                </c:pt>
                <c:pt idx="8">
                  <c:v>100</c:v>
                </c:pt>
                <c:pt idx="9">
                  <c:v>100</c:v>
                </c:pt>
                <c:pt idx="10">
                  <c:v>100</c:v>
                </c:pt>
                <c:pt idx="11">
                  <c:v>100</c:v>
                </c:pt>
                <c:pt idx="12">
                  <c:v>100</c:v>
                </c:pt>
              </c:numCache>
            </c:numRef>
          </c:yVal>
        </c:ser>
        <c:ser>
          <c:idx val="2"/>
          <c:order val="2"/>
          <c:tx>
            <c:v>No interaction test</c:v>
          </c:tx>
          <c:spPr>
            <a:solidFill xmlns:a="http://schemas.openxmlformats.org/drawingml/2006/main">
              <a:srgbClr val="2F647A"/>
            </a:solidFill>
            <a:ln xmlns:a="http://schemas.openxmlformats.org/drawingml/2006/main" w="0">
              <a:solidFill>
                <a:srgbClr val="2F647A"/>
              </a:solidFill>
              <a:prstDash val="solid"/>
            </a:ln>
          </c:spPr>
          <c:marker>
            <c:symbol val="circle"/>
            <c:size val="8"/>
            <c:spPr>
              <a:solidFill xmlns:a="http://schemas.openxmlformats.org/drawingml/2006/main">
                <a:srgbClr val="2F647A"/>
              </a:solidFill>
            </c:spPr>
          </c:marker>
          <c:xVal>
            <c:numRef>
              <c:f>'Chart Data'!$E$2:$E$8</c:f>
              <c:numCache>
                <c:formatCode>General</c:formatCode>
                <c:ptCount val="7"/>
                <c:pt idx="0">
                  <c:v>4.2</c:v>
                </c:pt>
                <c:pt idx="1">
                  <c:v>5.55</c:v>
                </c:pt>
                <c:pt idx="2">
                  <c:v>6.37</c:v>
                </c:pt>
                <c:pt idx="3">
                  <c:v>7.38</c:v>
                </c:pt>
                <c:pt idx="4">
                  <c:v>7.09</c:v>
                </c:pt>
                <c:pt idx="5">
                  <c:v>6.89</c:v>
                </c:pt>
                <c:pt idx="6">
                  <c:v>6.74</c:v>
                </c:pt>
              </c:numCache>
            </c:numRef>
          </c:xVal>
          <c:yVal>
            <c:numRef>
              <c:f>'Chart Data'!$F$2:$F$8</c:f>
              <c:numCache>
                <c:formatCode>0"%"</c:formatCode>
                <c:ptCount val="7"/>
                <c:pt idx="0">
                  <c:v>0</c:v>
                </c:pt>
                <c:pt idx="1">
                  <c:v>0</c:v>
                </c:pt>
                <c:pt idx="2">
                  <c:v>0</c:v>
                </c:pt>
                <c:pt idx="3">
                  <c:v>0</c:v>
                </c:pt>
                <c:pt idx="4">
                  <c:v>0</c:v>
                </c:pt>
                <c:pt idx="5">
                  <c:v>0</c:v>
                </c:pt>
                <c:pt idx="6">
                  <c:v>0</c:v>
                </c:pt>
              </c:numCache>
            </c:numRef>
          </c:yVal>
        </c:ser>
        <c:dLbls>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DDE6E4"/>
              </a:solidFill>
              <a:prstDash val="solid"/>
            </a:ln>
          </c:spPr>
        </c:majorGridlines>
        <c:title>
          <c:tx>
            <c:rich>
              <a:bodyPr xmlns:a="http://schemas.openxmlformats.org/drawingml/2006/main"/>
              <a:lstStyle xmlns:a="http://schemas.openxmlformats.org/drawingml/2006/main"/>
              <a:p xmlns:a="http://schemas.openxmlformats.org/drawingml/2006/main">
                <a:r>
                  <a:rPr sz="1125" b="1">
                    <a:solidFill>
                      <a:srgbClr val="17313A"/>
                    </a:solidFill>
                    <a:latin typeface="Segoe UI"/>
                    <a:ea typeface="Segoe UI"/>
                    <a:cs typeface="Segoe UI"/>
                  </a:rPr>
                  <a:t>Estimated chance of interaction</a:t>
                </a:r>
              </a:p>
            </c:rich>
          </c:tx>
          <c:overlay val="0"/>
          <c:txPr>
            <a:bodyPr xmlns:a="http://schemas.openxmlformats.org/drawingml/2006/main" anchorCtr="1"/>
            <a:lstStyle xmlns:a="http://schemas.openxmlformats.org/drawingml/2006/main"/>
            <a:p xmlns:a="http://schemas.openxmlformats.org/drawingml/2006/main">
              <a:pPr>
                <a:defRPr sz="1125" b="1">
                  <a:solidFill>
                    <a:srgbClr val="17313A"/>
                  </a:solidFill>
                  <a:latin typeface="Segoe UI"/>
                  <a:ea typeface="Segoe UI"/>
                  <a:cs typeface="Segoe UI"/>
                </a:defRPr>
              </a:pPr>
            </a:p>
          </c:txPr>
        </c:title>
        <c:numFmt formatCode="0&quot;%&quot;"/>
        <c:majorTickMark val="none"/>
        <c:minorTickMark val="none"/>
        <c:spPr>
          <a:ln xmlns:a="http://schemas.openxmlformats.org/drawingml/2006/main" w="9525">
            <a:solidFill>
              <a:srgbClr val="BFD0CF"/>
            </a:solidFill>
            <a:prstDash val="solid"/>
          </a:ln>
        </c:spPr>
        <c:txPr>
          <a:bodyPr xmlns:a="http://schemas.openxmlformats.org/drawingml/2006/main" anchorCtr="1"/>
          <a:lstStyle xmlns:a="http://schemas.openxmlformats.org/drawingml/2006/main"/>
          <a:p xmlns:a="http://schemas.openxmlformats.org/drawingml/2006/main">
            <a:pPr>
              <a:defRPr sz="900">
                <a:solidFill>
                  <a:srgbClr val="5A6D73"/>
                </a:solidFill>
                <a:latin typeface="Segoe UI"/>
                <a:ea typeface="Segoe UI"/>
                <a:cs typeface="Segoe UI"/>
              </a:defRPr>
            </a:pPr>
          </a:p>
        </c:txPr>
        <c:crossAx val="48650112"/>
        <c:majorUnit val="25"/>
      </c:valAx>
      <c:valAx>
        <c:axId val="48650112"/>
        <c:scaling>
          <c:orientation val="minMax"/>
          <c:max val="10"/>
          <c:min val="0"/>
        </c:scaling>
        <c:delete val="0"/>
        <c:axPos val="b"/>
        <c:majorGridlines>
          <c:spPr>
            <a:ln xmlns:a="http://schemas.openxmlformats.org/drawingml/2006/main" w="9525">
              <a:solidFill>
                <a:srgbClr val="DDE6E4"/>
              </a:solidFill>
              <a:prstDash val="solid"/>
            </a:ln>
          </c:spPr>
        </c:majorGridlines>
        <c:title>
          <c:tx>
            <c:rich>
              <a:bodyPr xmlns:a="http://schemas.openxmlformats.org/drawingml/2006/main"/>
              <a:lstStyle xmlns:a="http://schemas.openxmlformats.org/drawingml/2006/main"/>
              <a:p xmlns:a="http://schemas.openxmlformats.org/drawingml/2006/main">
                <a:r>
                  <a:rPr sz="1125" b="1">
                    <a:solidFill>
                      <a:srgbClr val="17313A"/>
                    </a:solidFill>
                    <a:latin typeface="Segoe UI"/>
                    <a:ea typeface="Segoe UI"/>
                    <a:cs typeface="Segoe UI"/>
                  </a:rPr>
                  <a:t>Physical gap (mm)</a:t>
                </a:r>
              </a:p>
            </c:rich>
          </c:tx>
          <c:overlay val="0"/>
          <c:txPr>
            <a:bodyPr xmlns:a="http://schemas.openxmlformats.org/drawingml/2006/main" anchorCtr="1"/>
            <a:lstStyle xmlns:a="http://schemas.openxmlformats.org/drawingml/2006/main"/>
            <a:p xmlns:a="http://schemas.openxmlformats.org/drawingml/2006/main">
              <a:pPr>
                <a:defRPr sz="1125" b="1">
                  <a:solidFill>
                    <a:srgbClr val="17313A"/>
                  </a:solidFill>
                  <a:latin typeface="Segoe UI"/>
                  <a:ea typeface="Segoe UI"/>
                  <a:cs typeface="Segoe UI"/>
                </a:defRPr>
              </a:pPr>
            </a:p>
          </c:txPr>
        </c:title>
        <c:numFmt formatCode="0.0"/>
        <c:majorTickMark val="none"/>
        <c:minorTickMark val="none"/>
        <c:spPr>
          <a:ln xmlns:a="http://schemas.openxmlformats.org/drawingml/2006/main" w="9525">
            <a:solidFill>
              <a:srgbClr val="BFD0CF"/>
            </a:solidFill>
            <a:prstDash val="solid"/>
          </a:ln>
        </c:spPr>
        <c:txPr>
          <a:bodyPr xmlns:a="http://schemas.openxmlformats.org/drawingml/2006/main" anchorCtr="1"/>
          <a:lstStyle xmlns:a="http://schemas.openxmlformats.org/drawingml/2006/main"/>
          <a:p xmlns:a="http://schemas.openxmlformats.org/drawingml/2006/main">
            <a:pPr>
              <a:defRPr sz="900">
                <a:solidFill>
                  <a:srgbClr val="5A6D73"/>
                </a:solidFill>
                <a:latin typeface="Segoe UI"/>
                <a:ea typeface="Segoe UI"/>
                <a:cs typeface="Segoe UI"/>
              </a:defRPr>
            </a:pPr>
          </a:p>
        </c:txPr>
        <c:crossAx val="48672768"/>
        <c:majorUnit val="2"/>
      </c:valAx>
      <c:spPr>
        <a:solidFill xmlns:a="http://schemas.openxmlformats.org/drawingml/2006/main">
          <a:srgbClr val="FFFFFF"/>
        </a:solidFill>
        <a:ln xmlns:a="http://schemas.openxmlformats.org/drawingml/2006/main" w="9525">
          <a:solidFill>
            <a:srgbClr val="BFD0C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7313A"/>
              </a:solidFill>
              <a:latin typeface="Segoe UI"/>
              <a:ea typeface="Segoe UI"/>
              <a:cs typeface="Segoe UI"/>
            </a:defRPr>
          </a:pPr>
        </a:p>
      </c:txPr>
    </c:legend>
    <c:plotVisOnly val="1"/>
  </c:chart>
  <c:spPr>
    <a:solidFill xmlns:a="http://schemas.openxmlformats.org/drawingml/2006/main">
      <a:srgbClr val="FFFFFF"/>
    </a:solidFill>
    <a:ln xmlns:a="http://schemas.openxmlformats.org/drawingml/2006/main" w="9525">
      <a:solidFill>
        <a:srgbClr val="BFD0C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E5D52BF-D8D5-4F26-872E-FE86E55337FA}"/>
              </a:ext>
            </a:extLst>
          </p:cNvPr>
          <p:cNvSpPr>
            <a:spLocks xmlns:a="http://schemas.openxmlformats.org/drawingml/2006/main" noGrp="1"/>
          </p:cNvSpPr>
          <p:nvPr/>
        </p:nvSpPr>
        <p:spPr>
          <a:xfrm xmlns:a="http://schemas.openxmlformats.org/drawingml/2006/main">
            <a:off x="666750" y="476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176F68"/>
                </a:solidFill>
                <a:latin typeface="Segoe UI"/>
                <a:ea typeface="Segoe UI"/>
                <a:cs typeface="Segoe UI"/>
              </a:defRPr>
            </a:pPr>
            <a:r>
              <a:rPr sz="1125" b="1">
                <a:solidFill>
                  <a:srgbClr val="176F68"/>
                </a:solidFill>
                <a:latin typeface="Segoe UI"/>
                <a:ea typeface="Segoe UI"/>
                <a:cs typeface="Segoe UI"/>
              </a:rPr>
              <a:t>NEYER GAP TEST V1.14</a:t>
            </a:r>
          </a:p>
        </p:txBody>
      </p:sp>
      <p:sp>
        <p:nvSpPr>
          <p:cNvPr id="2" name="">
            <a:extLst xmlns:a="http://schemas.openxmlformats.org/drawingml/2006/main">
              <a:ext uri="{FF2B5EF4-FFF2-40B4-BE49-F238E27FC236}">
                <a16:creationId xmlns:a16="http://schemas.microsoft.com/office/drawing/2014/main" id="{993DA541-6781-48AC-A7CF-08232F7A9702}"/>
              </a:ext>
            </a:extLst>
          </p:cNvPr>
          <p:cNvSpPr>
            <a:spLocks xmlns:a="http://schemas.openxmlformats.org/drawingml/2006/main" noGrp="1"/>
          </p:cNvSpPr>
          <p:nvPr/>
        </p:nvSpPr>
        <p:spPr>
          <a:xfrm xmlns:a="http://schemas.openxmlformats.org/drawingml/2006/main">
            <a:off x="666750" y="952500"/>
            <a:ext cx="723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7313A"/>
                </a:solidFill>
                <a:latin typeface="Segoe UI"/>
                <a:ea typeface="Segoe UI"/>
                <a:cs typeface="Segoe UI"/>
              </a:defRPr>
            </a:pPr>
            <a:r>
              <a:rPr sz="3600" b="1">
                <a:solidFill>
                  <a:srgbClr val="17313A"/>
                </a:solidFill>
                <a:latin typeface="Segoe UI"/>
                <a:ea typeface="Segoe UI"/>
                <a:cs typeface="Segoe UI"/>
              </a:rPr>
              <a:t>Neyer Gap Test</a:t>
            </a:r>
          </a:p>
        </p:txBody>
      </p:sp>
      <p:sp>
        <p:nvSpPr>
          <p:cNvPr id="3" name="">
            <a:extLst xmlns:a="http://schemas.openxmlformats.org/drawingml/2006/main">
              <a:ext uri="{FF2B5EF4-FFF2-40B4-BE49-F238E27FC236}">
                <a16:creationId xmlns:a16="http://schemas.microsoft.com/office/drawing/2014/main" id="{651C5077-BB16-44DC-BF51-30EA68AEC0B0}"/>
              </a:ext>
            </a:extLst>
          </p:cNvPr>
          <p:cNvSpPr>
            <a:spLocks xmlns:a="http://schemas.openxmlformats.org/drawingml/2006/main" noGrp="1"/>
          </p:cNvSpPr>
          <p:nvPr/>
        </p:nvSpPr>
        <p:spPr>
          <a:xfrm xmlns:a="http://schemas.openxmlformats.org/drawingml/2006/main">
            <a:off x="666750" y="165735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A6D73"/>
                </a:solidFill>
                <a:latin typeface="Segoe UI"/>
                <a:ea typeface="Segoe UI"/>
                <a:cs typeface="Segoe UI"/>
              </a:defRPr>
            </a:pPr>
            <a:r>
              <a:rPr sz="1875" b="0">
                <a:solidFill>
                  <a:srgbClr val="5A6D73"/>
                </a:solidFill>
                <a:latin typeface="Segoe UI"/>
                <a:ea typeface="Segoe UI"/>
                <a:cs typeface="Segoe UI"/>
              </a:rPr>
              <a:t>Finding the transition between Interaction and No interaction</a:t>
            </a:r>
          </a:p>
        </p:txBody>
      </p:sp>
      <p:sp>
        <p:nvSpPr>
          <p:cNvPr id="4" name="">
            <a:extLst xmlns:a="http://schemas.openxmlformats.org/drawingml/2006/main">
              <a:ext uri="{FF2B5EF4-FFF2-40B4-BE49-F238E27FC236}">
                <a16:creationId xmlns:a16="http://schemas.microsoft.com/office/drawing/2014/main" id="{0429A86D-B717-457B-9A91-08D08B5A6FEA}"/>
              </a:ext>
            </a:extLst>
          </p:cNvPr>
          <p:cNvSpPr>
            <a:spLocks xmlns:a="http://schemas.openxmlformats.org/drawingml/2006/main" noGrp="1"/>
          </p:cNvSpPr>
          <p:nvPr/>
        </p:nvSpPr>
        <p:spPr>
          <a:xfrm xmlns:a="http://schemas.openxmlformats.org/drawingml/2006/main">
            <a:off x="1504950" y="27813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A95020"/>
                </a:solidFill>
                <a:latin typeface="Segoe UI"/>
                <a:ea typeface="Segoe UI"/>
                <a:cs typeface="Segoe UI"/>
              </a:defRPr>
            </a:pPr>
            <a:r>
              <a:rPr sz="1125" b="1">
                <a:solidFill>
                  <a:srgbClr val="A95020"/>
                </a:solidFill>
                <a:latin typeface="Segoe UI"/>
                <a:ea typeface="Segoe UI"/>
                <a:cs typeface="Segoe UI"/>
              </a:rPr>
              <a:t>smaller gap</a:t>
            </a:r>
          </a:p>
        </p:txBody>
      </p:sp>
      <p:sp>
        <p:nvSpPr>
          <p:cNvPr id="5" name="">
            <a:extLst xmlns:a="http://schemas.openxmlformats.org/drawingml/2006/main">
              <a:ext uri="{FF2B5EF4-FFF2-40B4-BE49-F238E27FC236}">
                <a16:creationId xmlns:a16="http://schemas.microsoft.com/office/drawing/2014/main" id="{A62ECE83-B44A-4B21-A1F9-DAC084EEFD1F}"/>
              </a:ext>
            </a:extLst>
          </p:cNvPr>
          <p:cNvSpPr>
            <a:spLocks xmlns:a="http://schemas.openxmlformats.org/drawingml/2006/main" noGrp="1"/>
          </p:cNvSpPr>
          <p:nvPr/>
        </p:nvSpPr>
        <p:spPr>
          <a:xfrm xmlns:a="http://schemas.openxmlformats.org/drawingml/2006/main">
            <a:off x="9258300" y="27813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2F647A"/>
                </a:solidFill>
                <a:latin typeface="Segoe UI"/>
                <a:ea typeface="Segoe UI"/>
                <a:cs typeface="Segoe UI"/>
              </a:defRPr>
            </a:pPr>
            <a:r>
              <a:rPr sz="1125" b="1">
                <a:solidFill>
                  <a:srgbClr val="2F647A"/>
                </a:solidFill>
                <a:latin typeface="Segoe UI"/>
                <a:ea typeface="Segoe UI"/>
                <a:cs typeface="Segoe UI"/>
              </a:rPr>
              <a:t>larger gap</a:t>
            </a:r>
          </a:p>
        </p:txBody>
      </p:sp>
      <p:sp>
        <p:nvSpPr>
          <p:cNvPr id="6" name="">
            <a:extLst xmlns:a="http://schemas.openxmlformats.org/drawingml/2006/main">
              <a:ext uri="{FF2B5EF4-FFF2-40B4-BE49-F238E27FC236}">
                <a16:creationId xmlns:a16="http://schemas.microsoft.com/office/drawing/2014/main" id="{0F562B85-9B9A-4D38-97CE-C3F245FE113A}"/>
              </a:ext>
            </a:extLst>
          </p:cNvPr>
          <p:cNvSpPr>
            <a:spLocks xmlns:a="http://schemas.openxmlformats.org/drawingml/2006/main" noGrp="1"/>
          </p:cNvSpPr>
          <p:nvPr/>
        </p:nvSpPr>
        <p:spPr>
          <a:xfrm xmlns:a="http://schemas.openxmlformats.org/drawingml/2006/main">
            <a:off x="1666875" y="3619500"/>
            <a:ext cx="8858250" cy="0"/>
          </a:xfrm>
          <a:prstGeom xmlns:a="http://schemas.openxmlformats.org/drawingml/2006/main" prst="line">
            <a:avLst/>
          </a:prstGeom>
          <a:noFill xmlns:a="http://schemas.openxmlformats.org/drawingml/2006/main"/>
          <a:ln xmlns:a="http://schemas.openxmlformats.org/drawingml/2006/main" w="38100">
            <a:solidFill>
              <a:srgbClr val="BFD0CF"/>
            </a:solidFill>
            <a:prstDash val="solid"/>
          </a:ln>
        </p:spPr>
      </p:sp>
      <p:sp>
        <p:nvSpPr>
          <p:cNvPr id="7" name="">
            <a:extLst xmlns:a="http://schemas.openxmlformats.org/drawingml/2006/main">
              <a:ext uri="{FF2B5EF4-FFF2-40B4-BE49-F238E27FC236}">
                <a16:creationId xmlns:a16="http://schemas.microsoft.com/office/drawing/2014/main" id="{E2EE1CE1-6556-4465-877B-54CF9BDD363A}"/>
              </a:ext>
            </a:extLst>
          </p:cNvPr>
          <p:cNvSpPr>
            <a:spLocks xmlns:a="http://schemas.openxmlformats.org/drawingml/2006/main" noGrp="1"/>
          </p:cNvSpPr>
          <p:nvPr/>
        </p:nvSpPr>
        <p:spPr>
          <a:xfrm xmlns:a="http://schemas.openxmlformats.org/drawingml/2006/main">
            <a:off x="1857375" y="3457575"/>
            <a:ext cx="323850" cy="32385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8" name="">
            <a:extLst xmlns:a="http://schemas.openxmlformats.org/drawingml/2006/main">
              <a:ext uri="{FF2B5EF4-FFF2-40B4-BE49-F238E27FC236}">
                <a16:creationId xmlns:a16="http://schemas.microsoft.com/office/drawing/2014/main" id="{B52A9571-C03F-4626-A5CA-A87A42F25F54}"/>
              </a:ext>
            </a:extLst>
          </p:cNvPr>
          <p:cNvSpPr>
            <a:spLocks xmlns:a="http://schemas.openxmlformats.org/drawingml/2006/main" noGrp="1"/>
          </p:cNvSpPr>
          <p:nvPr/>
        </p:nvSpPr>
        <p:spPr>
          <a:xfrm xmlns:a="http://schemas.openxmlformats.org/drawingml/2006/main">
            <a:off x="2428875" y="3457575"/>
            <a:ext cx="323850" cy="32385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9" name="">
            <a:extLst xmlns:a="http://schemas.openxmlformats.org/drawingml/2006/main">
              <a:ext uri="{FF2B5EF4-FFF2-40B4-BE49-F238E27FC236}">
                <a16:creationId xmlns:a16="http://schemas.microsoft.com/office/drawing/2014/main" id="{4FA979E1-CF84-4D72-AEF3-66F31EBDC14A}"/>
              </a:ext>
            </a:extLst>
          </p:cNvPr>
          <p:cNvSpPr>
            <a:spLocks xmlns:a="http://schemas.openxmlformats.org/drawingml/2006/main" noGrp="1"/>
          </p:cNvSpPr>
          <p:nvPr/>
        </p:nvSpPr>
        <p:spPr>
          <a:xfrm xmlns:a="http://schemas.openxmlformats.org/drawingml/2006/main">
            <a:off x="3143250" y="3457575"/>
            <a:ext cx="323850" cy="32385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10" name="">
            <a:extLst xmlns:a="http://schemas.openxmlformats.org/drawingml/2006/main">
              <a:ext uri="{FF2B5EF4-FFF2-40B4-BE49-F238E27FC236}">
                <a16:creationId xmlns:a16="http://schemas.microsoft.com/office/drawing/2014/main" id="{A4FBF6E8-62B3-4888-BC4A-C290284CBDF6}"/>
              </a:ext>
            </a:extLst>
          </p:cNvPr>
          <p:cNvSpPr>
            <a:spLocks xmlns:a="http://schemas.openxmlformats.org/drawingml/2006/main" noGrp="1"/>
          </p:cNvSpPr>
          <p:nvPr/>
        </p:nvSpPr>
        <p:spPr>
          <a:xfrm xmlns:a="http://schemas.openxmlformats.org/drawingml/2006/main">
            <a:off x="4810125" y="3457575"/>
            <a:ext cx="323850" cy="32385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11" name="">
            <a:extLst xmlns:a="http://schemas.openxmlformats.org/drawingml/2006/main">
              <a:ext uri="{FF2B5EF4-FFF2-40B4-BE49-F238E27FC236}">
                <a16:creationId xmlns:a16="http://schemas.microsoft.com/office/drawing/2014/main" id="{4C0B69B0-C8F5-4C4F-915B-01F3437421B5}"/>
              </a:ext>
            </a:extLst>
          </p:cNvPr>
          <p:cNvSpPr>
            <a:spLocks xmlns:a="http://schemas.openxmlformats.org/drawingml/2006/main" noGrp="1"/>
          </p:cNvSpPr>
          <p:nvPr/>
        </p:nvSpPr>
        <p:spPr>
          <a:xfrm xmlns:a="http://schemas.openxmlformats.org/drawingml/2006/main">
            <a:off x="5524500" y="3457575"/>
            <a:ext cx="323850" cy="32385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12" name="">
            <a:extLst xmlns:a="http://schemas.openxmlformats.org/drawingml/2006/main">
              <a:ext uri="{FF2B5EF4-FFF2-40B4-BE49-F238E27FC236}">
                <a16:creationId xmlns:a16="http://schemas.microsoft.com/office/drawing/2014/main" id="{D6357377-909D-43FC-B9AE-DB7EE8D07C79}"/>
              </a:ext>
            </a:extLst>
          </p:cNvPr>
          <p:cNvSpPr>
            <a:spLocks xmlns:a="http://schemas.openxmlformats.org/drawingml/2006/main" noGrp="1"/>
          </p:cNvSpPr>
          <p:nvPr/>
        </p:nvSpPr>
        <p:spPr>
          <a:xfrm xmlns:a="http://schemas.openxmlformats.org/drawingml/2006/main">
            <a:off x="6191250" y="3457575"/>
            <a:ext cx="323850" cy="32385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13" name="">
            <a:extLst xmlns:a="http://schemas.openxmlformats.org/drawingml/2006/main">
              <a:ext uri="{FF2B5EF4-FFF2-40B4-BE49-F238E27FC236}">
                <a16:creationId xmlns:a16="http://schemas.microsoft.com/office/drawing/2014/main" id="{61D41E0C-94A0-47D8-ACAB-071D40AB88DD}"/>
              </a:ext>
            </a:extLst>
          </p:cNvPr>
          <p:cNvSpPr>
            <a:spLocks xmlns:a="http://schemas.openxmlformats.org/drawingml/2006/main" noGrp="1"/>
          </p:cNvSpPr>
          <p:nvPr/>
        </p:nvSpPr>
        <p:spPr>
          <a:xfrm xmlns:a="http://schemas.openxmlformats.org/drawingml/2006/main">
            <a:off x="6858000" y="3457575"/>
            <a:ext cx="323850" cy="32385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14" name="">
            <a:extLst xmlns:a="http://schemas.openxmlformats.org/drawingml/2006/main">
              <a:ext uri="{FF2B5EF4-FFF2-40B4-BE49-F238E27FC236}">
                <a16:creationId xmlns:a16="http://schemas.microsoft.com/office/drawing/2014/main" id="{BBA05198-CAA5-4A57-8064-4B41206D5C90}"/>
              </a:ext>
            </a:extLst>
          </p:cNvPr>
          <p:cNvSpPr>
            <a:spLocks xmlns:a="http://schemas.openxmlformats.org/drawingml/2006/main" noGrp="1"/>
          </p:cNvSpPr>
          <p:nvPr/>
        </p:nvSpPr>
        <p:spPr>
          <a:xfrm xmlns:a="http://schemas.openxmlformats.org/drawingml/2006/main">
            <a:off x="8572500" y="3457575"/>
            <a:ext cx="323850" cy="32385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15" name="">
            <a:extLst xmlns:a="http://schemas.openxmlformats.org/drawingml/2006/main">
              <a:ext uri="{FF2B5EF4-FFF2-40B4-BE49-F238E27FC236}">
                <a16:creationId xmlns:a16="http://schemas.microsoft.com/office/drawing/2014/main" id="{3A0458BD-8774-417D-9984-0D97F14C61E0}"/>
              </a:ext>
            </a:extLst>
          </p:cNvPr>
          <p:cNvSpPr>
            <a:spLocks xmlns:a="http://schemas.openxmlformats.org/drawingml/2006/main" noGrp="1"/>
          </p:cNvSpPr>
          <p:nvPr/>
        </p:nvSpPr>
        <p:spPr>
          <a:xfrm xmlns:a="http://schemas.openxmlformats.org/drawingml/2006/main">
            <a:off x="9286875" y="3457575"/>
            <a:ext cx="323850" cy="32385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16" name="">
            <a:extLst xmlns:a="http://schemas.openxmlformats.org/drawingml/2006/main">
              <a:ext uri="{FF2B5EF4-FFF2-40B4-BE49-F238E27FC236}">
                <a16:creationId xmlns:a16="http://schemas.microsoft.com/office/drawing/2014/main" id="{3B473A79-1DCB-4F6F-879F-1254E4FFF33F}"/>
              </a:ext>
            </a:extLst>
          </p:cNvPr>
          <p:cNvSpPr>
            <a:spLocks xmlns:a="http://schemas.openxmlformats.org/drawingml/2006/main" noGrp="1"/>
          </p:cNvSpPr>
          <p:nvPr/>
        </p:nvSpPr>
        <p:spPr>
          <a:xfrm xmlns:a="http://schemas.openxmlformats.org/drawingml/2006/main">
            <a:off x="9906000" y="3457575"/>
            <a:ext cx="323850" cy="32385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17" name="">
            <a:extLst xmlns:a="http://schemas.openxmlformats.org/drawingml/2006/main">
              <a:ext uri="{FF2B5EF4-FFF2-40B4-BE49-F238E27FC236}">
                <a16:creationId xmlns:a16="http://schemas.microsoft.com/office/drawing/2014/main" id="{375A1D77-5CBF-4401-ABAA-D7B0C4125CB6}"/>
              </a:ext>
            </a:extLst>
          </p:cNvPr>
          <p:cNvSpPr>
            <a:spLocks xmlns:a="http://schemas.openxmlformats.org/drawingml/2006/main" noGrp="1"/>
          </p:cNvSpPr>
          <p:nvPr/>
        </p:nvSpPr>
        <p:spPr>
          <a:xfrm xmlns:a="http://schemas.openxmlformats.org/drawingml/2006/main">
            <a:off x="1571625" y="39433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A95020"/>
                </a:solidFill>
                <a:latin typeface="Segoe UI"/>
                <a:ea typeface="Segoe UI"/>
                <a:cs typeface="Segoe UI"/>
              </a:defRPr>
            </a:pPr>
            <a:r>
              <a:rPr sz="1350" b="1">
                <a:solidFill>
                  <a:srgbClr val="A95020"/>
                </a:solidFill>
                <a:latin typeface="Segoe UI"/>
                <a:ea typeface="Segoe UI"/>
                <a:cs typeface="Segoe UI"/>
              </a:rPr>
              <a:t>Interaction more likely</a:t>
            </a:r>
          </a:p>
        </p:txBody>
      </p:sp>
      <p:sp>
        <p:nvSpPr>
          <p:cNvPr id="18" name="">
            <a:extLst xmlns:a="http://schemas.openxmlformats.org/drawingml/2006/main">
              <a:ext uri="{FF2B5EF4-FFF2-40B4-BE49-F238E27FC236}">
                <a16:creationId xmlns:a16="http://schemas.microsoft.com/office/drawing/2014/main" id="{327DBFCA-2442-4AFE-AC5D-27C7B8A2C924}"/>
              </a:ext>
            </a:extLst>
          </p:cNvPr>
          <p:cNvSpPr>
            <a:spLocks xmlns:a="http://schemas.openxmlformats.org/drawingml/2006/main" noGrp="1"/>
          </p:cNvSpPr>
          <p:nvPr/>
        </p:nvSpPr>
        <p:spPr>
          <a:xfrm xmlns:a="http://schemas.openxmlformats.org/drawingml/2006/main">
            <a:off x="4905375" y="39433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76F68"/>
                </a:solidFill>
                <a:latin typeface="Segoe UI"/>
                <a:ea typeface="Segoe UI"/>
                <a:cs typeface="Segoe UI"/>
              </a:defRPr>
            </a:pPr>
            <a:r>
              <a:rPr sz="1350" b="1">
                <a:solidFill>
                  <a:srgbClr val="176F68"/>
                </a:solidFill>
                <a:latin typeface="Segoe UI"/>
                <a:ea typeface="Segoe UI"/>
                <a:cs typeface="Segoe UI"/>
              </a:rPr>
              <a:t>transition area</a:t>
            </a:r>
          </a:p>
        </p:txBody>
      </p:sp>
      <p:sp>
        <p:nvSpPr>
          <p:cNvPr id="19" name="">
            <a:extLst xmlns:a="http://schemas.openxmlformats.org/drawingml/2006/main">
              <a:ext uri="{FF2B5EF4-FFF2-40B4-BE49-F238E27FC236}">
                <a16:creationId xmlns:a16="http://schemas.microsoft.com/office/drawing/2014/main" id="{9D21D464-3F54-4C1B-99DA-9736AC6F54E2}"/>
              </a:ext>
            </a:extLst>
          </p:cNvPr>
          <p:cNvSpPr>
            <a:spLocks xmlns:a="http://schemas.openxmlformats.org/drawingml/2006/main" noGrp="1"/>
          </p:cNvSpPr>
          <p:nvPr/>
        </p:nvSpPr>
        <p:spPr>
          <a:xfrm xmlns:a="http://schemas.openxmlformats.org/drawingml/2006/main">
            <a:off x="8048625" y="39433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47A"/>
                </a:solidFill>
                <a:latin typeface="Segoe UI"/>
                <a:ea typeface="Segoe UI"/>
                <a:cs typeface="Segoe UI"/>
              </a:defRPr>
            </a:pPr>
            <a:r>
              <a:rPr sz="1350" b="1">
                <a:solidFill>
                  <a:srgbClr val="2F647A"/>
                </a:solidFill>
                <a:latin typeface="Segoe UI"/>
                <a:ea typeface="Segoe UI"/>
                <a:cs typeface="Segoe UI"/>
              </a:rPr>
              <a:t>No interaction more likely</a:t>
            </a:r>
          </a:p>
        </p:txBody>
      </p:sp>
      <p:sp>
        <p:nvSpPr>
          <p:cNvPr id="20" name="">
            <a:extLst xmlns:a="http://schemas.openxmlformats.org/drawingml/2006/main">
              <a:ext uri="{FF2B5EF4-FFF2-40B4-BE49-F238E27FC236}">
                <a16:creationId xmlns:a16="http://schemas.microsoft.com/office/drawing/2014/main" id="{3DB403C2-C411-4BAD-AE1F-24D214B98191}"/>
              </a:ext>
            </a:extLst>
          </p:cNvPr>
          <p:cNvSpPr>
            <a:spLocks xmlns:a="http://schemas.openxmlformats.org/drawingml/2006/main" noGrp="1"/>
          </p:cNvSpPr>
          <p:nvPr/>
        </p:nvSpPr>
        <p:spPr>
          <a:xfrm xmlns:a="http://schemas.openxmlformats.org/drawingml/2006/main">
            <a:off x="666750" y="4762500"/>
            <a:ext cx="10858500" cy="0"/>
          </a:xfrm>
          <a:prstGeom xmlns:a="http://schemas.openxmlformats.org/drawingml/2006/main" prst="line">
            <a:avLst/>
          </a:prstGeom>
          <a:noFill xmlns:a="http://schemas.openxmlformats.org/drawingml/2006/main"/>
          <a:ln xmlns:a="http://schemas.openxmlformats.org/drawingml/2006/main" w="12383">
            <a:solidFill>
              <a:srgbClr val="BFD0CF"/>
            </a:solidFill>
            <a:prstDash val="solid"/>
          </a:ln>
        </p:spPr>
      </p:sp>
      <p:sp>
        <p:nvSpPr>
          <p:cNvPr id="21" name="">
            <a:extLst xmlns:a="http://schemas.openxmlformats.org/drawingml/2006/main">
              <a:ext uri="{FF2B5EF4-FFF2-40B4-BE49-F238E27FC236}">
                <a16:creationId xmlns:a16="http://schemas.microsoft.com/office/drawing/2014/main" id="{C89A3B15-7F9A-4446-9EDA-CEB1D366B292}"/>
              </a:ext>
            </a:extLst>
          </p:cNvPr>
          <p:cNvSpPr>
            <a:spLocks xmlns:a="http://schemas.openxmlformats.org/drawingml/2006/main" noGrp="1"/>
          </p:cNvSpPr>
          <p:nvPr/>
        </p:nvSpPr>
        <p:spPr>
          <a:xfrm xmlns:a="http://schemas.openxmlformats.org/drawingml/2006/main">
            <a:off x="666750" y="50101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E514D"/>
                </a:solidFill>
                <a:latin typeface="Segoe UI"/>
                <a:ea typeface="Segoe UI"/>
                <a:cs typeface="Segoe UI"/>
              </a:defRPr>
            </a:pPr>
            <a:r>
              <a:rPr sz="1800" b="1">
                <a:solidFill>
                  <a:srgbClr val="0E514D"/>
                </a:solidFill>
                <a:latin typeface="Segoe UI"/>
                <a:ea typeface="Segoe UI"/>
                <a:cs typeface="Segoe UI"/>
              </a:rPr>
              <a:t>Each completed test helps the tool choose the next useful gap.</a:t>
            </a:r>
          </a:p>
        </p:txBody>
      </p:sp>
      <p:sp>
        <p:nvSpPr>
          <p:cNvPr id="22" name="">
            <a:extLst xmlns:a="http://schemas.openxmlformats.org/drawingml/2006/main">
              <a:ext uri="{FF2B5EF4-FFF2-40B4-BE49-F238E27FC236}">
                <a16:creationId xmlns:a16="http://schemas.microsoft.com/office/drawing/2014/main" id="{5B8C8EEF-2B52-4CE5-B696-47BA53C8676F}"/>
              </a:ext>
            </a:extLst>
          </p:cNvPr>
          <p:cNvSpPr>
            <a:spLocks xmlns:a="http://schemas.openxmlformats.org/drawingml/2006/main" noGrp="1"/>
          </p:cNvSpPr>
          <p:nvPr/>
        </p:nvSpPr>
        <p:spPr>
          <a:xfrm xmlns:a="http://schemas.openxmlformats.org/drawingml/2006/main">
            <a:off x="666750" y="54768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5A6D73"/>
                </a:solidFill>
                <a:latin typeface="Segoe UI"/>
                <a:ea typeface="Segoe UI"/>
                <a:cs typeface="Segoe UI"/>
              </a:defRPr>
            </a:pPr>
            <a:r>
              <a:rPr sz="1500" b="0">
                <a:solidFill>
                  <a:srgbClr val="5A6D73"/>
                </a:solidFill>
                <a:latin typeface="Segoe UI"/>
                <a:ea typeface="Segoe UI"/>
                <a:cs typeface="Segoe UI"/>
              </a:rPr>
              <a:t>The final study estimates the middle gap, overall variation and probability curve.</a:t>
            </a:r>
          </a:p>
        </p:txBody>
      </p:sp>
      <p:sp>
        <p:nvSpPr>
          <p:cNvPr id="23" name="">
            <a:extLst xmlns:a="http://schemas.openxmlformats.org/drawingml/2006/main">
              <a:ext uri="{FF2B5EF4-FFF2-40B4-BE49-F238E27FC236}">
                <a16:creationId xmlns:a16="http://schemas.microsoft.com/office/drawing/2014/main" id="{77865DED-CEA6-4A58-AC41-41323BAD14AE}"/>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5A6D73"/>
                </a:solidFill>
                <a:latin typeface="Segoe UI"/>
                <a:ea typeface="Segoe UI"/>
                <a:cs typeface="Segoe UI"/>
              </a:defRPr>
            </a:pPr>
            <a:r>
              <a:rPr sz="900" b="0">
                <a:solidFill>
                  <a:srgbClr val="5A6D73"/>
                </a:solidFill>
                <a:latin typeface="Segoe UI"/>
                <a:ea typeface="Segoe UI"/>
                <a:cs typeface="Segoe UI"/>
              </a:rPr>
              <a:t>Neyer Gap Test V1.14</a:t>
            </a:r>
          </a:p>
        </p:txBody>
      </p:sp>
    </p:spTree>
    <p:extLst>
      <p:ext uri="{BB962C8B-B14F-4D97-AF65-F5344CB8AC3E}">
        <p14:creationId xmlns:p14="http://schemas.microsoft.com/office/powerpoint/2010/main" val="1671679825"/>
      </p:ext>
    </p:extLst>
  </p:cSld>
</p:sld>
</file>

<file path=ppt/slides/slide2.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25FA0E7-2A5E-4869-91A9-AA1EB65BF583}"/>
              </a:ext>
            </a:extLst>
          </p:cNvPr>
          <p:cNvSpPr>
            <a:spLocks xmlns:a="http://schemas.openxmlformats.org/drawingml/2006/main" noGrp="1"/>
          </p:cNvSpPr>
          <p:nvPr/>
        </p:nvSpPr>
        <p:spPr>
          <a:xfrm xmlns:a="http://schemas.openxmlformats.org/drawingml/2006/main">
            <a:off x="552450" y="3238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76F68"/>
                </a:solidFill>
                <a:latin typeface="Segoe UI"/>
                <a:ea typeface="Segoe UI"/>
                <a:cs typeface="Segoe UI"/>
              </a:defRPr>
            </a:pPr>
            <a:r>
              <a:rPr sz="1200" b="1">
                <a:solidFill>
                  <a:srgbClr val="176F68"/>
                </a:solidFill>
                <a:latin typeface="Segoe UI"/>
                <a:ea typeface="Segoe UI"/>
                <a:cs typeface="Segoe UI"/>
              </a:rPr>
              <a:t>02</a:t>
            </a:r>
          </a:p>
        </p:txBody>
      </p:sp>
      <p:sp>
        <p:nvSpPr>
          <p:cNvPr id="2" name="">
            <a:extLst xmlns:a="http://schemas.openxmlformats.org/drawingml/2006/main">
              <a:ext uri="{FF2B5EF4-FFF2-40B4-BE49-F238E27FC236}">
                <a16:creationId xmlns:a16="http://schemas.microsoft.com/office/drawing/2014/main" id="{B5F80936-10FB-42F4-9E88-8C243D5B8577}"/>
              </a:ext>
            </a:extLst>
          </p:cNvPr>
          <p:cNvSpPr>
            <a:spLocks xmlns:a="http://schemas.openxmlformats.org/drawingml/2006/main" noGrp="1"/>
          </p:cNvSpPr>
          <p:nvPr/>
        </p:nvSpPr>
        <p:spPr>
          <a:xfrm xmlns:a="http://schemas.openxmlformats.org/drawingml/2006/main">
            <a:off x="1066800" y="266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7313A"/>
                </a:solidFill>
                <a:latin typeface="Segoe UI"/>
                <a:ea typeface="Segoe UI"/>
                <a:cs typeface="Segoe UI"/>
              </a:defRPr>
            </a:pPr>
            <a:r>
              <a:rPr sz="2550" b="1">
                <a:solidFill>
                  <a:srgbClr val="17313A"/>
                </a:solidFill>
                <a:latin typeface="Segoe UI"/>
                <a:ea typeface="Segoe UI"/>
                <a:cs typeface="Segoe UI"/>
              </a:rPr>
              <a:t>How the tool turns tests into a curve</a:t>
            </a:r>
          </a:p>
        </p:txBody>
      </p:sp>
      <p:sp>
        <p:nvSpPr>
          <p:cNvPr id="3" name="">
            <a:extLst xmlns:a="http://schemas.openxmlformats.org/drawingml/2006/main">
              <a:ext uri="{FF2B5EF4-FFF2-40B4-BE49-F238E27FC236}">
                <a16:creationId xmlns:a16="http://schemas.microsoft.com/office/drawing/2014/main" id="{03EF0B7A-A9B0-44CC-9E62-1B6AC4A32939}"/>
              </a:ext>
            </a:extLst>
          </p:cNvPr>
          <p:cNvSpPr>
            <a:spLocks xmlns:a="http://schemas.openxmlformats.org/drawingml/2006/main" noGrp="1"/>
          </p:cNvSpPr>
          <p:nvPr/>
        </p:nvSpPr>
        <p:spPr>
          <a:xfrm xmlns:a="http://schemas.openxmlformats.org/drawingml/2006/main">
            <a:off x="571500" y="914400"/>
            <a:ext cx="11049000" cy="0"/>
          </a:xfrm>
          <a:prstGeom xmlns:a="http://schemas.openxmlformats.org/drawingml/2006/main" prst="line">
            <a:avLst/>
          </a:prstGeom>
          <a:noFill xmlns:a="http://schemas.openxmlformats.org/drawingml/2006/main"/>
          <a:ln xmlns:a="http://schemas.openxmlformats.org/drawingml/2006/main" w="12383">
            <a:solidFill>
              <a:srgbClr val="BFD0CF"/>
            </a:solidFill>
            <a:prstDash val="solid"/>
          </a:ln>
        </p:spPr>
      </p:sp>
      <p:sp>
        <p:nvSpPr>
          <p:cNvPr id="4" name="">
            <a:extLst xmlns:a="http://schemas.openxmlformats.org/drawingml/2006/main">
              <a:ext uri="{FF2B5EF4-FFF2-40B4-BE49-F238E27FC236}">
                <a16:creationId xmlns:a16="http://schemas.microsoft.com/office/drawing/2014/main" id="{5E602313-BEA5-4D18-AF61-CAF097FD5CBA}"/>
              </a:ext>
            </a:extLst>
          </p:cNvPr>
          <p:cNvSpPr>
            <a:spLocks xmlns:a="http://schemas.openxmlformats.org/drawingml/2006/main" noGrp="1"/>
          </p:cNvSpPr>
          <p:nvPr/>
        </p:nvSpPr>
        <p:spPr>
          <a:xfrm xmlns:a="http://schemas.openxmlformats.org/drawingml/2006/main">
            <a:off x="590550" y="1257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2F647A"/>
                </a:solidFill>
                <a:latin typeface="Segoe UI"/>
                <a:ea typeface="Segoe UI"/>
                <a:cs typeface="Segoe UI"/>
              </a:defRPr>
            </a:pPr>
            <a:r>
              <a:rPr sz="1200" b="1">
                <a:solidFill>
                  <a:srgbClr val="2F647A"/>
                </a:solidFill>
                <a:latin typeface="Segoe UI"/>
                <a:ea typeface="Segoe UI"/>
                <a:cs typeface="Segoe UI"/>
              </a:rPr>
              <a:t>INPUT</a:t>
            </a:r>
          </a:p>
        </p:txBody>
      </p:sp>
      <p:sp>
        <p:nvSpPr>
          <p:cNvPr id="5" name="">
            <a:extLst xmlns:a="http://schemas.openxmlformats.org/drawingml/2006/main">
              <a:ext uri="{FF2B5EF4-FFF2-40B4-BE49-F238E27FC236}">
                <a16:creationId xmlns:a16="http://schemas.microsoft.com/office/drawing/2014/main" id="{8B72E462-DA8D-4432-9516-9347F4CE41EC}"/>
              </a:ext>
            </a:extLst>
          </p:cNvPr>
          <p:cNvSpPr>
            <a:spLocks xmlns:a="http://schemas.openxmlformats.org/drawingml/2006/main" noGrp="1"/>
          </p:cNvSpPr>
          <p:nvPr/>
        </p:nvSpPr>
        <p:spPr>
          <a:xfrm xmlns:a="http://schemas.openxmlformats.org/drawingml/2006/main">
            <a:off x="590550" y="15811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17313A"/>
                </a:solidFill>
                <a:latin typeface="Segoe UI"/>
                <a:ea typeface="Segoe UI"/>
                <a:cs typeface="Segoe UI"/>
              </a:defRPr>
            </a:pPr>
            <a:r>
              <a:rPr sz="1950" b="1">
                <a:solidFill>
                  <a:srgbClr val="17313A"/>
                </a:solidFill>
                <a:latin typeface="Segoe UI"/>
                <a:ea typeface="Segoe UI"/>
                <a:cs typeface="Segoe UI"/>
              </a:rPr>
              <a:t>What the user provides</a:t>
            </a:r>
          </a:p>
        </p:txBody>
      </p:sp>
      <p:sp>
        <p:nvSpPr>
          <p:cNvPr id="6" name="">
            <a:extLst xmlns:a="http://schemas.openxmlformats.org/drawingml/2006/main">
              <a:ext uri="{FF2B5EF4-FFF2-40B4-BE49-F238E27FC236}">
                <a16:creationId xmlns:a16="http://schemas.microsoft.com/office/drawing/2014/main" id="{B473693A-6DC8-4E80-9661-1D09F5375858}"/>
              </a:ext>
            </a:extLst>
          </p:cNvPr>
          <p:cNvSpPr>
            <a:spLocks xmlns:a="http://schemas.openxmlformats.org/drawingml/2006/main" noGrp="1"/>
          </p:cNvSpPr>
          <p:nvPr/>
        </p:nvSpPr>
        <p:spPr>
          <a:xfrm xmlns:a="http://schemas.openxmlformats.org/drawingml/2006/main">
            <a:off x="590550" y="2133600"/>
            <a:ext cx="2571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Low and high middle-gap guesses</a:t>
            </a:r>
          </a:p>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Permitted gap range</a:t>
            </a:r>
          </a:p>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Usable gap step</a:t>
            </a:r>
          </a:p>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Maximum number of tests</a:t>
            </a:r>
          </a:p>
        </p:txBody>
      </p:sp>
      <p:sp>
        <p:nvSpPr>
          <p:cNvPr id="7" name="">
            <a:extLst xmlns:a="http://schemas.openxmlformats.org/drawingml/2006/main">
              <a:ext uri="{FF2B5EF4-FFF2-40B4-BE49-F238E27FC236}">
                <a16:creationId xmlns:a16="http://schemas.microsoft.com/office/drawing/2014/main" id="{241E0CF1-9B69-4377-B712-BFA624C9943D}"/>
              </a:ext>
            </a:extLst>
          </p:cNvPr>
          <p:cNvSpPr>
            <a:spLocks xmlns:a="http://schemas.openxmlformats.org/drawingml/2006/main" noGrp="1"/>
          </p:cNvSpPr>
          <p:nvPr/>
        </p:nvSpPr>
        <p:spPr>
          <a:xfrm xmlns:a="http://schemas.openxmlformats.org/drawingml/2006/main">
            <a:off x="3162300" y="2724150"/>
            <a:ext cx="819150" cy="514350"/>
          </a:xfrm>
          <a:prstGeom xmlns:a="http://schemas.openxmlformats.org/drawingml/2006/main" prst="rightArrow">
            <a:avLst/>
          </a:prstGeom>
          <a:solidFill xmlns:a="http://schemas.openxmlformats.org/drawingml/2006/main">
            <a:srgbClr val="E1EDF2"/>
          </a:solidFill>
          <a:ln xmlns:a="http://schemas.openxmlformats.org/drawingml/2006/main" w="14288">
            <a:solidFill>
              <a:srgbClr val="2F647A"/>
            </a:solidFill>
            <a:prstDash val="solid"/>
          </a:ln>
        </p:spPr>
      </p:sp>
      <p:sp>
        <p:nvSpPr>
          <p:cNvPr id="8" name="">
            <a:extLst xmlns:a="http://schemas.openxmlformats.org/drawingml/2006/main">
              <a:ext uri="{FF2B5EF4-FFF2-40B4-BE49-F238E27FC236}">
                <a16:creationId xmlns:a16="http://schemas.microsoft.com/office/drawing/2014/main" id="{8890163D-9E78-4B2B-B07F-E3B71327E9B2}"/>
              </a:ext>
            </a:extLst>
          </p:cNvPr>
          <p:cNvSpPr>
            <a:spLocks xmlns:a="http://schemas.openxmlformats.org/drawingml/2006/main" noGrp="1"/>
          </p:cNvSpPr>
          <p:nvPr/>
        </p:nvSpPr>
        <p:spPr>
          <a:xfrm xmlns:a="http://schemas.openxmlformats.org/drawingml/2006/main">
            <a:off x="4114800" y="12573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76F68"/>
                </a:solidFill>
                <a:latin typeface="Segoe UI"/>
                <a:ea typeface="Segoe UI"/>
                <a:cs typeface="Segoe UI"/>
              </a:defRPr>
            </a:pPr>
            <a:r>
              <a:rPr sz="1200" b="1">
                <a:solidFill>
                  <a:srgbClr val="176F68"/>
                </a:solidFill>
                <a:latin typeface="Segoe UI"/>
                <a:ea typeface="Segoe UI"/>
                <a:cs typeface="Segoe UI"/>
              </a:rPr>
              <a:t>ADAPTIVE TEST LOOP</a:t>
            </a:r>
          </a:p>
        </p:txBody>
      </p:sp>
      <p:sp>
        <p:nvSpPr>
          <p:cNvPr id="9" name="">
            <a:extLst xmlns:a="http://schemas.openxmlformats.org/drawingml/2006/main">
              <a:ext uri="{FF2B5EF4-FFF2-40B4-BE49-F238E27FC236}">
                <a16:creationId xmlns:a16="http://schemas.microsoft.com/office/drawing/2014/main" id="{BEE518C9-0D68-431E-9300-2282A923442E}"/>
              </a:ext>
            </a:extLst>
          </p:cNvPr>
          <p:cNvSpPr>
            <a:spLocks xmlns:a="http://schemas.openxmlformats.org/drawingml/2006/main" noGrp="1"/>
          </p:cNvSpPr>
          <p:nvPr/>
        </p:nvSpPr>
        <p:spPr>
          <a:xfrm xmlns:a="http://schemas.openxmlformats.org/drawingml/2006/main">
            <a:off x="4114800" y="1695450"/>
            <a:ext cx="4000500" cy="609600"/>
          </a:xfrm>
          <a:prstGeom xmlns:a="http://schemas.openxmlformats.org/drawingml/2006/main" prst="roundRect">
            <a:avLst>
              <a:gd name="adj" fmla="val 12500"/>
            </a:avLst>
          </a:prstGeom>
          <a:solidFill xmlns:a="http://schemas.openxmlformats.org/drawingml/2006/main">
            <a:srgbClr val="DCEFEB"/>
          </a:solidFill>
          <a:ln xmlns:a="http://schemas.openxmlformats.org/drawingml/2006/main" w="13335">
            <a:solidFill>
              <a:srgbClr val="176F68"/>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17313A"/>
                </a:solidFill>
                <a:latin typeface="Segoe UI"/>
                <a:ea typeface="Segoe UI"/>
                <a:cs typeface="Segoe UI"/>
              </a:defRPr>
            </a:pPr>
            <a:r>
              <a:rPr sz="1425" b="1">
                <a:solidFill>
                  <a:srgbClr val="17313A"/>
                </a:solidFill>
                <a:latin typeface="Segoe UI"/>
                <a:ea typeface="Segoe UI"/>
                <a:cs typeface="Segoe UI"/>
              </a:rPr>
              <a:t>1  Tool requests a reachable gap</a:t>
            </a:r>
          </a:p>
        </p:txBody>
      </p:sp>
      <p:sp>
        <p:nvSpPr>
          <p:cNvPr id="10" name="">
            <a:extLst xmlns:a="http://schemas.openxmlformats.org/drawingml/2006/main">
              <a:ext uri="{FF2B5EF4-FFF2-40B4-BE49-F238E27FC236}">
                <a16:creationId xmlns:a16="http://schemas.microsoft.com/office/drawing/2014/main" id="{1EA9179C-C6A0-4FB3-8730-285AAA7B74A7}"/>
              </a:ext>
            </a:extLst>
          </p:cNvPr>
          <p:cNvSpPr>
            <a:spLocks xmlns:a="http://schemas.openxmlformats.org/drawingml/2006/main" noGrp="1"/>
          </p:cNvSpPr>
          <p:nvPr/>
        </p:nvSpPr>
        <p:spPr>
          <a:xfrm xmlns:a="http://schemas.openxmlformats.org/drawingml/2006/main">
            <a:off x="5848350" y="2305050"/>
            <a:ext cx="514350" cy="266700"/>
          </a:xfrm>
          <a:prstGeom xmlns:a="http://schemas.openxmlformats.org/drawingml/2006/main" prst="downArrow">
            <a:avLst/>
          </a:prstGeom>
          <a:solidFill xmlns:a="http://schemas.openxmlformats.org/drawingml/2006/main">
            <a:srgbClr val="176F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22DD90-8047-4B7C-9E64-8FD0BA2FAAB1}"/>
              </a:ext>
            </a:extLst>
          </p:cNvPr>
          <p:cNvSpPr>
            <a:spLocks xmlns:a="http://schemas.openxmlformats.org/drawingml/2006/main" noGrp="1"/>
          </p:cNvSpPr>
          <p:nvPr/>
        </p:nvSpPr>
        <p:spPr>
          <a:xfrm xmlns:a="http://schemas.openxmlformats.org/drawingml/2006/main">
            <a:off x="4114800" y="2571750"/>
            <a:ext cx="4000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3335">
            <a:solidFill>
              <a:srgbClr val="176F68"/>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2  User builds and measures once</a:t>
            </a:r>
          </a:p>
        </p:txBody>
      </p:sp>
      <p:sp>
        <p:nvSpPr>
          <p:cNvPr id="12" name="">
            <a:extLst xmlns:a="http://schemas.openxmlformats.org/drawingml/2006/main">
              <a:ext uri="{FF2B5EF4-FFF2-40B4-BE49-F238E27FC236}">
                <a16:creationId xmlns:a16="http://schemas.microsoft.com/office/drawing/2014/main" id="{5D237ECB-76A4-4EB3-AD79-1D06BCF9EA48}"/>
              </a:ext>
            </a:extLst>
          </p:cNvPr>
          <p:cNvSpPr>
            <a:spLocks xmlns:a="http://schemas.openxmlformats.org/drawingml/2006/main" noGrp="1"/>
          </p:cNvSpPr>
          <p:nvPr/>
        </p:nvSpPr>
        <p:spPr>
          <a:xfrm xmlns:a="http://schemas.openxmlformats.org/drawingml/2006/main">
            <a:off x="5848350" y="3181350"/>
            <a:ext cx="514350" cy="266700"/>
          </a:xfrm>
          <a:prstGeom xmlns:a="http://schemas.openxmlformats.org/drawingml/2006/main" prst="downArrow">
            <a:avLst/>
          </a:prstGeom>
          <a:solidFill xmlns:a="http://schemas.openxmlformats.org/drawingml/2006/main">
            <a:srgbClr val="176F6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5BE05D-D196-432E-8192-720A2D7135FC}"/>
              </a:ext>
            </a:extLst>
          </p:cNvPr>
          <p:cNvSpPr>
            <a:spLocks xmlns:a="http://schemas.openxmlformats.org/drawingml/2006/main" noGrp="1"/>
          </p:cNvSpPr>
          <p:nvPr/>
        </p:nvSpPr>
        <p:spPr>
          <a:xfrm xmlns:a="http://schemas.openxmlformats.org/drawingml/2006/main">
            <a:off x="4114800" y="3448050"/>
            <a:ext cx="4000500" cy="609600"/>
          </a:xfrm>
          <a:prstGeom xmlns:a="http://schemas.openxmlformats.org/drawingml/2006/main" prst="roundRect">
            <a:avLst>
              <a:gd name="adj" fmla="val 12500"/>
            </a:avLst>
          </a:prstGeom>
          <a:solidFill xmlns:a="http://schemas.openxmlformats.org/drawingml/2006/main">
            <a:srgbClr val="DCEFEB"/>
          </a:solidFill>
          <a:ln xmlns:a="http://schemas.openxmlformats.org/drawingml/2006/main" w="13335">
            <a:solidFill>
              <a:srgbClr val="176F68"/>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3  User records the physical outcome</a:t>
            </a:r>
          </a:p>
        </p:txBody>
      </p:sp>
      <p:sp>
        <p:nvSpPr>
          <p:cNvPr id="14" name="">
            <a:extLst xmlns:a="http://schemas.openxmlformats.org/drawingml/2006/main">
              <a:ext uri="{FF2B5EF4-FFF2-40B4-BE49-F238E27FC236}">
                <a16:creationId xmlns:a16="http://schemas.microsoft.com/office/drawing/2014/main" id="{E220C1A2-3964-4E57-8F32-9EB2D5E2A30C}"/>
              </a:ext>
            </a:extLst>
          </p:cNvPr>
          <p:cNvSpPr>
            <a:spLocks xmlns:a="http://schemas.openxmlformats.org/drawingml/2006/main" noGrp="1"/>
          </p:cNvSpPr>
          <p:nvPr/>
        </p:nvSpPr>
        <p:spPr>
          <a:xfrm xmlns:a="http://schemas.openxmlformats.org/drawingml/2006/main">
            <a:off x="5848350" y="4057650"/>
            <a:ext cx="514350" cy="266700"/>
          </a:xfrm>
          <a:prstGeom xmlns:a="http://schemas.openxmlformats.org/drawingml/2006/main" prst="downArrow">
            <a:avLst/>
          </a:prstGeom>
          <a:solidFill xmlns:a="http://schemas.openxmlformats.org/drawingml/2006/main">
            <a:srgbClr val="176F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F35ED02-B2C2-4675-8255-77F1F03AC401}"/>
              </a:ext>
            </a:extLst>
          </p:cNvPr>
          <p:cNvSpPr>
            <a:spLocks xmlns:a="http://schemas.openxmlformats.org/drawingml/2006/main" noGrp="1"/>
          </p:cNvSpPr>
          <p:nvPr/>
        </p:nvSpPr>
        <p:spPr>
          <a:xfrm xmlns:a="http://schemas.openxmlformats.org/drawingml/2006/main">
            <a:off x="4114800" y="4324350"/>
            <a:ext cx="4000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3335">
            <a:solidFill>
              <a:srgbClr val="176F68"/>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17313A"/>
                </a:solidFill>
                <a:latin typeface="Segoe UI"/>
                <a:ea typeface="Segoe UI"/>
                <a:cs typeface="Segoe UI"/>
              </a:defRPr>
            </a:pPr>
            <a:r>
              <a:rPr sz="1425" b="1">
                <a:solidFill>
                  <a:srgbClr val="17313A"/>
                </a:solidFill>
                <a:latin typeface="Segoe UI"/>
                <a:ea typeface="Segoe UI"/>
                <a:cs typeface="Segoe UI"/>
              </a:rPr>
              <a:t>4  Tool selects the next useful gap</a:t>
            </a:r>
          </a:p>
        </p:txBody>
      </p:sp>
      <p:sp>
        <p:nvSpPr>
          <p:cNvPr id="16" name="">
            <a:extLst xmlns:a="http://schemas.openxmlformats.org/drawingml/2006/main">
              <a:ext uri="{FF2B5EF4-FFF2-40B4-BE49-F238E27FC236}">
                <a16:creationId xmlns:a16="http://schemas.microsoft.com/office/drawing/2014/main" id="{875E41AB-5B1C-4FCC-81FA-A501B3A6779A}"/>
              </a:ext>
            </a:extLst>
          </p:cNvPr>
          <p:cNvSpPr>
            <a:spLocks xmlns:a="http://schemas.openxmlformats.org/drawingml/2006/main" noGrp="1"/>
          </p:cNvSpPr>
          <p:nvPr/>
        </p:nvSpPr>
        <p:spPr>
          <a:xfrm xmlns:a="http://schemas.openxmlformats.org/drawingml/2006/main">
            <a:off x="4762500" y="5200650"/>
            <a:ext cx="2714625" cy="361950"/>
          </a:xfrm>
          <a:prstGeom xmlns:a="http://schemas.openxmlformats.org/drawingml/2006/main" prst="leftRightArrow">
            <a:avLst/>
          </a:prstGeom>
          <a:solidFill xmlns:a="http://schemas.openxmlformats.org/drawingml/2006/main">
            <a:srgbClr val="F6E5DC"/>
          </a:solidFill>
          <a:ln xmlns:a="http://schemas.openxmlformats.org/drawingml/2006/main" w="11430">
            <a:solidFill>
              <a:srgbClr val="A9502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050" b="1">
                <a:solidFill>
                  <a:srgbClr val="A95020"/>
                </a:solidFill>
                <a:latin typeface="Segoe UI"/>
                <a:ea typeface="Segoe UI"/>
                <a:cs typeface="Segoe UI"/>
              </a:defRPr>
            </a:pPr>
            <a:r>
              <a:rPr sz="1050" b="1">
                <a:solidFill>
                  <a:srgbClr val="A95020"/>
                </a:solidFill>
                <a:latin typeface="Segoe UI"/>
                <a:ea typeface="Segoe UI"/>
                <a:cs typeface="Segoe UI"/>
              </a:rPr>
              <a:t>repeat until the planned test limit</a:t>
            </a:r>
          </a:p>
        </p:txBody>
      </p:sp>
      <p:sp>
        <p:nvSpPr>
          <p:cNvPr id="17" name="">
            <a:extLst xmlns:a="http://schemas.openxmlformats.org/drawingml/2006/main">
              <a:ext uri="{FF2B5EF4-FFF2-40B4-BE49-F238E27FC236}">
                <a16:creationId xmlns:a16="http://schemas.microsoft.com/office/drawing/2014/main" id="{ACCFC121-EC62-4747-9691-B6C0E3C21C6C}"/>
              </a:ext>
            </a:extLst>
          </p:cNvPr>
          <p:cNvSpPr>
            <a:spLocks xmlns:a="http://schemas.openxmlformats.org/drawingml/2006/main" noGrp="1"/>
          </p:cNvSpPr>
          <p:nvPr/>
        </p:nvSpPr>
        <p:spPr>
          <a:xfrm xmlns:a="http://schemas.openxmlformats.org/drawingml/2006/main">
            <a:off x="8248650" y="2724150"/>
            <a:ext cx="819150" cy="514350"/>
          </a:xfrm>
          <a:prstGeom xmlns:a="http://schemas.openxmlformats.org/drawingml/2006/main" prst="rightArrow">
            <a:avLst/>
          </a:prstGeom>
          <a:solidFill xmlns:a="http://schemas.openxmlformats.org/drawingml/2006/main">
            <a:srgbClr val="DCEFEB"/>
          </a:solidFill>
          <a:ln xmlns:a="http://schemas.openxmlformats.org/drawingml/2006/main" w="14288">
            <a:solidFill>
              <a:srgbClr val="176F68"/>
            </a:solidFill>
            <a:prstDash val="solid"/>
          </a:ln>
        </p:spPr>
      </p:sp>
      <p:sp>
        <p:nvSpPr>
          <p:cNvPr id="18" name="">
            <a:extLst xmlns:a="http://schemas.openxmlformats.org/drawingml/2006/main">
              <a:ext uri="{FF2B5EF4-FFF2-40B4-BE49-F238E27FC236}">
                <a16:creationId xmlns:a16="http://schemas.microsoft.com/office/drawing/2014/main" id="{E8F52681-747C-4B99-9E9B-BFB9F186997F}"/>
              </a:ext>
            </a:extLst>
          </p:cNvPr>
          <p:cNvSpPr>
            <a:spLocks xmlns:a="http://schemas.openxmlformats.org/drawingml/2006/main" noGrp="1"/>
          </p:cNvSpPr>
          <p:nvPr/>
        </p:nvSpPr>
        <p:spPr>
          <a:xfrm xmlns:a="http://schemas.openxmlformats.org/drawingml/2006/main">
            <a:off x="9220200" y="12573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A95020"/>
                </a:solidFill>
                <a:latin typeface="Segoe UI"/>
                <a:ea typeface="Segoe UI"/>
                <a:cs typeface="Segoe UI"/>
              </a:defRPr>
            </a:pPr>
            <a:r>
              <a:rPr sz="1200" b="1">
                <a:solidFill>
                  <a:srgbClr val="A95020"/>
                </a:solidFill>
                <a:latin typeface="Segoe UI"/>
                <a:ea typeface="Segoe UI"/>
                <a:cs typeface="Segoe UI"/>
              </a:rPr>
              <a:t>OUTPUT</a:t>
            </a:r>
          </a:p>
        </p:txBody>
      </p:sp>
      <p:sp>
        <p:nvSpPr>
          <p:cNvPr id="19" name="">
            <a:extLst xmlns:a="http://schemas.openxmlformats.org/drawingml/2006/main">
              <a:ext uri="{FF2B5EF4-FFF2-40B4-BE49-F238E27FC236}">
                <a16:creationId xmlns:a16="http://schemas.microsoft.com/office/drawing/2014/main" id="{611F78BF-B793-43EA-AA91-DCF1E921760F}"/>
              </a:ext>
            </a:extLst>
          </p:cNvPr>
          <p:cNvSpPr>
            <a:spLocks xmlns:a="http://schemas.openxmlformats.org/drawingml/2006/main" noGrp="1"/>
          </p:cNvSpPr>
          <p:nvPr/>
        </p:nvSpPr>
        <p:spPr>
          <a:xfrm xmlns:a="http://schemas.openxmlformats.org/drawingml/2006/main">
            <a:off x="9220200" y="1581150"/>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17313A"/>
                </a:solidFill>
                <a:latin typeface="Segoe UI"/>
                <a:ea typeface="Segoe UI"/>
                <a:cs typeface="Segoe UI"/>
              </a:defRPr>
            </a:pPr>
            <a:r>
              <a:rPr sz="1950" b="1">
                <a:solidFill>
                  <a:srgbClr val="17313A"/>
                </a:solidFill>
                <a:latin typeface="Segoe UI"/>
                <a:ea typeface="Segoe UI"/>
                <a:cs typeface="Segoe UI"/>
              </a:rPr>
              <a:t>What the study produces</a:t>
            </a:r>
          </a:p>
        </p:txBody>
      </p:sp>
      <p:sp>
        <p:nvSpPr>
          <p:cNvPr id="20" name="">
            <a:extLst xmlns:a="http://schemas.openxmlformats.org/drawingml/2006/main">
              <a:ext uri="{FF2B5EF4-FFF2-40B4-BE49-F238E27FC236}">
                <a16:creationId xmlns:a16="http://schemas.microsoft.com/office/drawing/2014/main" id="{FA15DD69-952D-4054-965B-78F73F9C5B1F}"/>
              </a:ext>
            </a:extLst>
          </p:cNvPr>
          <p:cNvSpPr>
            <a:spLocks xmlns:a="http://schemas.openxmlformats.org/drawingml/2006/main" noGrp="1"/>
          </p:cNvSpPr>
          <p:nvPr/>
        </p:nvSpPr>
        <p:spPr>
          <a:xfrm xmlns:a="http://schemas.openxmlformats.org/drawingml/2006/main">
            <a:off x="9220200" y="2400300"/>
            <a:ext cx="238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Estimated middle gap</a:t>
            </a:r>
          </a:p>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Overall variation</a:t>
            </a:r>
          </a:p>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Probability curve</a:t>
            </a:r>
          </a:p>
          <a:p xmlns:a="http://schemas.openxmlformats.org/drawingml/2006/main">
            <a:pPr algn="l">
              <a:defRPr sz="1425" b="0">
                <a:solidFill>
                  <a:srgbClr val="17313A"/>
                </a:solidFill>
                <a:latin typeface="Segoe UI"/>
                <a:ea typeface="Segoe UI"/>
                <a:cs typeface="Segoe UI"/>
              </a:defRPr>
            </a:pPr>
            <a:r>
              <a:rPr sz="1425" b="0">
                <a:solidFill>
                  <a:srgbClr val="17313A"/>
                </a:solidFill>
                <a:latin typeface="Segoe UI"/>
                <a:ea typeface="Segoe UI"/>
                <a:cs typeface="Segoe UI"/>
              </a:rPr>
              <a:t>Complete test record</a:t>
            </a:r>
          </a:p>
        </p:txBody>
      </p:sp>
      <p:sp>
        <p:nvSpPr>
          <p:cNvPr id="21" name="">
            <a:extLst xmlns:a="http://schemas.openxmlformats.org/drawingml/2006/main">
              <a:ext uri="{FF2B5EF4-FFF2-40B4-BE49-F238E27FC236}">
                <a16:creationId xmlns:a16="http://schemas.microsoft.com/office/drawing/2014/main" id="{1C2D902A-5DCD-4C40-AB13-6F0D7AF6C811}"/>
              </a:ext>
            </a:extLst>
          </p:cNvPr>
          <p:cNvSpPr>
            <a:spLocks xmlns:a="http://schemas.openxmlformats.org/drawingml/2006/main" noGrp="1"/>
          </p:cNvSpPr>
          <p:nvPr/>
        </p:nvSpPr>
        <p:spPr>
          <a:xfrm xmlns:a="http://schemas.openxmlformats.org/drawingml/2006/main">
            <a:off x="590550" y="55816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E514D"/>
                </a:solidFill>
                <a:latin typeface="Segoe UI"/>
                <a:ea typeface="Segoe UI"/>
                <a:cs typeface="Segoe UI"/>
              </a:defRPr>
            </a:pPr>
            <a:r>
              <a:rPr sz="1650" b="1">
                <a:solidFill>
                  <a:srgbClr val="0E514D"/>
                </a:solidFill>
                <a:latin typeface="Segoe UI"/>
                <a:ea typeface="Segoe UI"/>
                <a:cs typeface="Segoe UI"/>
              </a:rPr>
              <a:t>The measured gap stays attached to the outcome that physically occurred.</a:t>
            </a:r>
          </a:p>
        </p:txBody>
      </p:sp>
      <p:sp>
        <p:nvSpPr>
          <p:cNvPr id="22" name="">
            <a:extLst xmlns:a="http://schemas.openxmlformats.org/drawingml/2006/main">
              <a:ext uri="{FF2B5EF4-FFF2-40B4-BE49-F238E27FC236}">
                <a16:creationId xmlns:a16="http://schemas.microsoft.com/office/drawing/2014/main" id="{D2753948-79F9-448B-AE03-1B967EEB2C80}"/>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5A6D73"/>
                </a:solidFill>
                <a:latin typeface="Segoe UI"/>
                <a:ea typeface="Segoe UI"/>
                <a:cs typeface="Segoe UI"/>
              </a:defRPr>
            </a:pPr>
            <a:r>
              <a:rPr sz="900" b="0">
                <a:solidFill>
                  <a:srgbClr val="5A6D73"/>
                </a:solidFill>
                <a:latin typeface="Segoe UI"/>
                <a:ea typeface="Segoe UI"/>
                <a:cs typeface="Segoe UI"/>
              </a:rPr>
              <a:t>Neyer Gap Test V1.14</a:t>
            </a:r>
          </a:p>
        </p:txBody>
      </p:sp>
    </p:spTree>
    <p:extLst>
      <p:ext uri="{BB962C8B-B14F-4D97-AF65-F5344CB8AC3E}">
        <p14:creationId xmlns:p14="http://schemas.microsoft.com/office/powerpoint/2010/main" val="552815761"/>
      </p:ext>
    </p:extLst>
  </p:cSld>
</p:sld>
</file>

<file path=ppt/slides/slide3.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2DD81F-6120-478F-ABE1-AB92011223EF}"/>
              </a:ext>
            </a:extLst>
          </p:cNvPr>
          <p:cNvSpPr>
            <a:spLocks xmlns:a="http://schemas.openxmlformats.org/drawingml/2006/main" noGrp="1"/>
          </p:cNvSpPr>
          <p:nvPr/>
        </p:nvSpPr>
        <p:spPr>
          <a:xfrm xmlns:a="http://schemas.openxmlformats.org/drawingml/2006/main">
            <a:off x="552450" y="3238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76F68"/>
                </a:solidFill>
                <a:latin typeface="Segoe UI"/>
                <a:ea typeface="Segoe UI"/>
                <a:cs typeface="Segoe UI"/>
              </a:defRPr>
            </a:pPr>
            <a:r>
              <a:rPr sz="1200" b="1">
                <a:solidFill>
                  <a:srgbClr val="176F68"/>
                </a:solidFill>
                <a:latin typeface="Segoe UI"/>
                <a:ea typeface="Segoe UI"/>
                <a:cs typeface="Segoe UI"/>
              </a:rPr>
              <a:t>03</a:t>
            </a:r>
          </a:p>
        </p:txBody>
      </p:sp>
      <p:sp>
        <p:nvSpPr>
          <p:cNvPr id="2" name="">
            <a:extLst xmlns:a="http://schemas.openxmlformats.org/drawingml/2006/main">
              <a:ext uri="{FF2B5EF4-FFF2-40B4-BE49-F238E27FC236}">
                <a16:creationId xmlns:a16="http://schemas.microsoft.com/office/drawing/2014/main" id="{B24B4D49-AC24-428F-AC79-2E863889836A}"/>
              </a:ext>
            </a:extLst>
          </p:cNvPr>
          <p:cNvSpPr>
            <a:spLocks xmlns:a="http://schemas.openxmlformats.org/drawingml/2006/main" noGrp="1"/>
          </p:cNvSpPr>
          <p:nvPr/>
        </p:nvSpPr>
        <p:spPr>
          <a:xfrm xmlns:a="http://schemas.openxmlformats.org/drawingml/2006/main">
            <a:off x="1066800" y="266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7313A"/>
                </a:solidFill>
                <a:latin typeface="Segoe UI"/>
                <a:ea typeface="Segoe UI"/>
                <a:cs typeface="Segoe UI"/>
              </a:defRPr>
            </a:pPr>
            <a:r>
              <a:rPr sz="2550" b="1">
                <a:solidFill>
                  <a:srgbClr val="17313A"/>
                </a:solidFill>
                <a:latin typeface="Segoe UI"/>
                <a:ea typeface="Segoe UI"/>
                <a:cs typeface="Segoe UI"/>
              </a:rPr>
              <a:t>What the gap study is finding</a:t>
            </a:r>
          </a:p>
        </p:txBody>
      </p:sp>
      <p:sp>
        <p:nvSpPr>
          <p:cNvPr id="3" name="">
            <a:extLst xmlns:a="http://schemas.openxmlformats.org/drawingml/2006/main">
              <a:ext uri="{FF2B5EF4-FFF2-40B4-BE49-F238E27FC236}">
                <a16:creationId xmlns:a16="http://schemas.microsoft.com/office/drawing/2014/main" id="{B66AD9F4-23D5-45FD-9D0F-37698F461ED0}"/>
              </a:ext>
            </a:extLst>
          </p:cNvPr>
          <p:cNvSpPr>
            <a:spLocks xmlns:a="http://schemas.openxmlformats.org/drawingml/2006/main" noGrp="1"/>
          </p:cNvSpPr>
          <p:nvPr/>
        </p:nvSpPr>
        <p:spPr>
          <a:xfrm xmlns:a="http://schemas.openxmlformats.org/drawingml/2006/main">
            <a:off x="571500" y="914400"/>
            <a:ext cx="11049000" cy="0"/>
          </a:xfrm>
          <a:prstGeom xmlns:a="http://schemas.openxmlformats.org/drawingml/2006/main" prst="line">
            <a:avLst/>
          </a:prstGeom>
          <a:noFill xmlns:a="http://schemas.openxmlformats.org/drawingml/2006/main"/>
          <a:ln xmlns:a="http://schemas.openxmlformats.org/drawingml/2006/main" w="12383">
            <a:solidFill>
              <a:srgbClr val="BFD0CF"/>
            </a:solidFill>
            <a:prstDash val="solid"/>
          </a:ln>
        </p:spPr>
      </p:sp>
      <p:graphicFrame>
        <p:nvGraphicFramePr>
          <p:cNvPr id="18" name="Chart"/>
          <p:cNvGraphicFramePr/>
          <p:nvPr/>
        </p:nvGraphicFramePr>
        <p:xfrm>
          <a:off xmlns:a="http://schemas.openxmlformats.org/drawingml/2006/main" x="552450" y="1181100"/>
          <a:ext xmlns:a="http://schemas.openxmlformats.org/drawingml/2006/main" cx="8191500" cy="4762500"/>
        </p:xfrm>
        <a:graphic xmlns:a="http://schemas.openxmlformats.org/drawingml/2006/main">
          <a:graphicData uri="http://schemas.openxmlformats.org/drawingml/2006/chart">
            <c:chart xmlns:r="http://schemas.openxmlformats.org/officeDocument/2006/relationships" xmlns:c="http://schemas.openxmlformats.org/drawingml/2006/chart" r:id="Rf5df7cd175cb4208"/>
          </a:graphicData>
        </a:graphic>
      </p:graphicFrame>
      <p:sp>
        <p:nvSpPr>
          <p:cNvPr id="5" name="">
            <a:extLst xmlns:a="http://schemas.openxmlformats.org/drawingml/2006/main">
              <a:ext uri="{FF2B5EF4-FFF2-40B4-BE49-F238E27FC236}">
                <a16:creationId xmlns:a16="http://schemas.microsoft.com/office/drawing/2014/main" id="{81A8B98E-8CA9-4345-B052-710BFB3AED0C}"/>
              </a:ext>
            </a:extLst>
          </p:cNvPr>
          <p:cNvSpPr>
            <a:spLocks xmlns:a="http://schemas.openxmlformats.org/drawingml/2006/main" noGrp="1"/>
          </p:cNvSpPr>
          <p:nvPr/>
        </p:nvSpPr>
        <p:spPr>
          <a:xfrm xmlns:a="http://schemas.openxmlformats.org/drawingml/2006/main">
            <a:off x="9048750" y="13525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76F68"/>
                </a:solidFill>
                <a:latin typeface="Segoe UI"/>
                <a:ea typeface="Segoe UI"/>
                <a:cs typeface="Segoe UI"/>
              </a:defRPr>
            </a:pPr>
            <a:r>
              <a:rPr sz="1200" b="1">
                <a:solidFill>
                  <a:srgbClr val="176F68"/>
                </a:solidFill>
                <a:latin typeface="Segoe UI"/>
                <a:ea typeface="Segoe UI"/>
                <a:cs typeface="Segoe UI"/>
              </a:rPr>
              <a:t>Verified reference replay</a:t>
            </a:r>
          </a:p>
        </p:txBody>
      </p:sp>
      <p:sp>
        <p:nvSpPr>
          <p:cNvPr id="6" name="">
            <a:extLst xmlns:a="http://schemas.openxmlformats.org/drawingml/2006/main">
              <a:ext uri="{FF2B5EF4-FFF2-40B4-BE49-F238E27FC236}">
                <a16:creationId xmlns:a16="http://schemas.microsoft.com/office/drawing/2014/main" id="{4B6489E1-5BE9-42CA-9E7B-DDA8C0BD03A4}"/>
              </a:ext>
            </a:extLst>
          </p:cNvPr>
          <p:cNvSpPr>
            <a:spLocks xmlns:a="http://schemas.openxmlformats.org/drawingml/2006/main" noGrp="1"/>
          </p:cNvSpPr>
          <p:nvPr/>
        </p:nvSpPr>
        <p:spPr>
          <a:xfrm xmlns:a="http://schemas.openxmlformats.org/drawingml/2006/main">
            <a:off x="9048750" y="1666875"/>
            <a:ext cx="180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17313A"/>
                </a:solidFill>
                <a:latin typeface="Segoe UI"/>
                <a:ea typeface="Segoe UI"/>
                <a:cs typeface="Segoe UI"/>
              </a:defRPr>
            </a:pPr>
            <a:r>
              <a:rPr sz="3900" b="1">
                <a:solidFill>
                  <a:srgbClr val="17313A"/>
                </a:solidFill>
                <a:latin typeface="Segoe UI"/>
                <a:ea typeface="Segoe UI"/>
                <a:cs typeface="Segoe UI"/>
              </a:rPr>
              <a:t>20</a:t>
            </a:r>
          </a:p>
        </p:txBody>
      </p:sp>
      <p:sp>
        <p:nvSpPr>
          <p:cNvPr id="7" name="">
            <a:extLst xmlns:a="http://schemas.openxmlformats.org/drawingml/2006/main">
              <a:ext uri="{FF2B5EF4-FFF2-40B4-BE49-F238E27FC236}">
                <a16:creationId xmlns:a16="http://schemas.microsoft.com/office/drawing/2014/main" id="{47722406-2E2B-4EE2-842E-FAC3E5CA9334}"/>
              </a:ext>
            </a:extLst>
          </p:cNvPr>
          <p:cNvSpPr>
            <a:spLocks xmlns:a="http://schemas.openxmlformats.org/drawingml/2006/main" noGrp="1"/>
          </p:cNvSpPr>
          <p:nvPr/>
        </p:nvSpPr>
        <p:spPr>
          <a:xfrm xmlns:a="http://schemas.openxmlformats.org/drawingml/2006/main">
            <a:off x="9048750" y="22383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A6D73"/>
                </a:solidFill>
                <a:latin typeface="Segoe UI"/>
                <a:ea typeface="Segoe UI"/>
                <a:cs typeface="Segoe UI"/>
              </a:defRPr>
            </a:pPr>
            <a:r>
              <a:rPr sz="1350" b="0">
                <a:solidFill>
                  <a:srgbClr val="5A6D73"/>
                </a:solidFill>
                <a:latin typeface="Segoe UI"/>
                <a:ea typeface="Segoe UI"/>
                <a:cs typeface="Segoe UI"/>
              </a:rPr>
              <a:t>entered test outcomes</a:t>
            </a:r>
          </a:p>
        </p:txBody>
      </p:sp>
      <p:sp>
        <p:nvSpPr>
          <p:cNvPr id="8" name="">
            <a:extLst xmlns:a="http://schemas.openxmlformats.org/drawingml/2006/main">
              <a:ext uri="{FF2B5EF4-FFF2-40B4-BE49-F238E27FC236}">
                <a16:creationId xmlns:a16="http://schemas.microsoft.com/office/drawing/2014/main" id="{6A95B592-7BF1-4356-B31A-A8380F25AE3C}"/>
              </a:ext>
            </a:extLst>
          </p:cNvPr>
          <p:cNvSpPr>
            <a:spLocks xmlns:a="http://schemas.openxmlformats.org/drawingml/2006/main" noGrp="1"/>
          </p:cNvSpPr>
          <p:nvPr/>
        </p:nvSpPr>
        <p:spPr>
          <a:xfrm xmlns:a="http://schemas.openxmlformats.org/drawingml/2006/main">
            <a:off x="9048750" y="2781300"/>
            <a:ext cx="2381250" cy="0"/>
          </a:xfrm>
          <a:prstGeom xmlns:a="http://schemas.openxmlformats.org/drawingml/2006/main" prst="line">
            <a:avLst/>
          </a:prstGeom>
          <a:noFill xmlns:a="http://schemas.openxmlformats.org/drawingml/2006/main"/>
          <a:ln xmlns:a="http://schemas.openxmlformats.org/drawingml/2006/main" w="11430">
            <a:solidFill>
              <a:srgbClr val="BFD0CF"/>
            </a:solidFill>
            <a:prstDash val="solid"/>
          </a:ln>
        </p:spPr>
      </p:sp>
      <p:sp>
        <p:nvSpPr>
          <p:cNvPr id="9" name="">
            <a:extLst xmlns:a="http://schemas.openxmlformats.org/drawingml/2006/main">
              <a:ext uri="{FF2B5EF4-FFF2-40B4-BE49-F238E27FC236}">
                <a16:creationId xmlns:a16="http://schemas.microsoft.com/office/drawing/2014/main" id="{01D9A404-7B51-44AA-BB9E-BAD6CEFE8EAB}"/>
              </a:ext>
            </a:extLst>
          </p:cNvPr>
          <p:cNvSpPr>
            <a:spLocks xmlns:a="http://schemas.openxmlformats.org/drawingml/2006/main" noGrp="1"/>
          </p:cNvSpPr>
          <p:nvPr/>
        </p:nvSpPr>
        <p:spPr>
          <a:xfrm xmlns:a="http://schemas.openxmlformats.org/drawingml/2006/main">
            <a:off x="9048750" y="29527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A95020"/>
                </a:solidFill>
                <a:latin typeface="Segoe UI"/>
                <a:ea typeface="Segoe UI"/>
                <a:cs typeface="Segoe UI"/>
              </a:defRPr>
            </a:pPr>
            <a:r>
              <a:rPr sz="2175" b="1">
                <a:solidFill>
                  <a:srgbClr val="A95020"/>
                </a:solidFill>
                <a:latin typeface="Segoe UI"/>
                <a:ea typeface="Segoe UI"/>
                <a:cs typeface="Segoe UI"/>
              </a:rPr>
              <a:t>5.3922 mm</a:t>
            </a:r>
          </a:p>
        </p:txBody>
      </p:sp>
      <p:sp>
        <p:nvSpPr>
          <p:cNvPr id="10" name="">
            <a:extLst xmlns:a="http://schemas.openxmlformats.org/drawingml/2006/main">
              <a:ext uri="{FF2B5EF4-FFF2-40B4-BE49-F238E27FC236}">
                <a16:creationId xmlns:a16="http://schemas.microsoft.com/office/drawing/2014/main" id="{2F3B31ED-DBA4-43F3-994B-35C065A96B92}"/>
              </a:ext>
            </a:extLst>
          </p:cNvPr>
          <p:cNvSpPr>
            <a:spLocks xmlns:a="http://schemas.openxmlformats.org/drawingml/2006/main" noGrp="1"/>
          </p:cNvSpPr>
          <p:nvPr/>
        </p:nvSpPr>
        <p:spPr>
          <a:xfrm xmlns:a="http://schemas.openxmlformats.org/drawingml/2006/main">
            <a:off x="9048750" y="3352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A6D73"/>
                </a:solidFill>
                <a:latin typeface="Segoe UI"/>
                <a:ea typeface="Segoe UI"/>
                <a:cs typeface="Segoe UI"/>
              </a:defRPr>
            </a:pPr>
            <a:r>
              <a:rPr sz="1275" b="0">
                <a:solidFill>
                  <a:srgbClr val="5A6D73"/>
                </a:solidFill>
                <a:latin typeface="Segoe UI"/>
                <a:ea typeface="Segoe UI"/>
                <a:cs typeface="Segoe UI"/>
              </a:rPr>
              <a:t>estimated middle gap</a:t>
            </a:r>
          </a:p>
        </p:txBody>
      </p:sp>
      <p:sp>
        <p:nvSpPr>
          <p:cNvPr id="11" name="">
            <a:extLst xmlns:a="http://schemas.openxmlformats.org/drawingml/2006/main">
              <a:ext uri="{FF2B5EF4-FFF2-40B4-BE49-F238E27FC236}">
                <a16:creationId xmlns:a16="http://schemas.microsoft.com/office/drawing/2014/main" id="{63F8C75B-80F2-4374-AD7F-913CA40AAB68}"/>
              </a:ext>
            </a:extLst>
          </p:cNvPr>
          <p:cNvSpPr>
            <a:spLocks xmlns:a="http://schemas.openxmlformats.org/drawingml/2006/main" noGrp="1"/>
          </p:cNvSpPr>
          <p:nvPr/>
        </p:nvSpPr>
        <p:spPr>
          <a:xfrm xmlns:a="http://schemas.openxmlformats.org/drawingml/2006/main">
            <a:off x="9048750" y="38862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76F68"/>
                </a:solidFill>
                <a:latin typeface="Segoe UI"/>
                <a:ea typeface="Segoe UI"/>
                <a:cs typeface="Segoe UI"/>
              </a:defRPr>
            </a:pPr>
            <a:r>
              <a:rPr sz="2175" b="1">
                <a:solidFill>
                  <a:srgbClr val="176F68"/>
                </a:solidFill>
                <a:latin typeface="Segoe UI"/>
                <a:ea typeface="Segoe UI"/>
                <a:cs typeface="Segoe UI"/>
              </a:rPr>
              <a:t>1.0412 mm</a:t>
            </a:r>
          </a:p>
        </p:txBody>
      </p:sp>
      <p:sp>
        <p:nvSpPr>
          <p:cNvPr id="12" name="">
            <a:extLst xmlns:a="http://schemas.openxmlformats.org/drawingml/2006/main">
              <a:ext uri="{FF2B5EF4-FFF2-40B4-BE49-F238E27FC236}">
                <a16:creationId xmlns:a16="http://schemas.microsoft.com/office/drawing/2014/main" id="{0C1E197E-B125-48FD-B86F-4C5338F18AC4}"/>
              </a:ext>
            </a:extLst>
          </p:cNvPr>
          <p:cNvSpPr>
            <a:spLocks xmlns:a="http://schemas.openxmlformats.org/drawingml/2006/main" noGrp="1"/>
          </p:cNvSpPr>
          <p:nvPr/>
        </p:nvSpPr>
        <p:spPr>
          <a:xfrm xmlns:a="http://schemas.openxmlformats.org/drawingml/2006/main">
            <a:off x="9048750" y="4286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A6D73"/>
                </a:solidFill>
                <a:latin typeface="Segoe UI"/>
                <a:ea typeface="Segoe UI"/>
                <a:cs typeface="Segoe UI"/>
              </a:defRPr>
            </a:pPr>
            <a:r>
              <a:rPr sz="1275" b="0">
                <a:solidFill>
                  <a:srgbClr val="5A6D73"/>
                </a:solidFill>
                <a:latin typeface="Segoe UI"/>
                <a:ea typeface="Segoe UI"/>
                <a:cs typeface="Segoe UI"/>
              </a:rPr>
              <a:t>estimated overall variation</a:t>
            </a:r>
          </a:p>
        </p:txBody>
      </p:sp>
      <p:sp>
        <p:nvSpPr>
          <p:cNvPr id="13" name="">
            <a:extLst xmlns:a="http://schemas.openxmlformats.org/drawingml/2006/main">
              <a:ext uri="{FF2B5EF4-FFF2-40B4-BE49-F238E27FC236}">
                <a16:creationId xmlns:a16="http://schemas.microsoft.com/office/drawing/2014/main" id="{0DB793E5-E8B0-46D6-ADDE-CD6D8D448650}"/>
              </a:ext>
            </a:extLst>
          </p:cNvPr>
          <p:cNvSpPr>
            <a:spLocks xmlns:a="http://schemas.openxmlformats.org/drawingml/2006/main" noGrp="1"/>
          </p:cNvSpPr>
          <p:nvPr/>
        </p:nvSpPr>
        <p:spPr>
          <a:xfrm xmlns:a="http://schemas.openxmlformats.org/drawingml/2006/main">
            <a:off x="9048750" y="5048250"/>
            <a:ext cx="2428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17313A"/>
                </a:solidFill>
                <a:latin typeface="Segoe UI"/>
                <a:ea typeface="Segoe UI"/>
                <a:cs typeface="Segoe UI"/>
              </a:defRPr>
            </a:pPr>
            <a:r>
              <a:rPr sz="1275" b="0">
                <a:solidFill>
                  <a:srgbClr val="17313A"/>
                </a:solidFill>
                <a:latin typeface="Segoe UI"/>
                <a:ea typeface="Segoe UI"/>
                <a:cs typeface="Segoe UI"/>
              </a:rPr>
              <a:t>Smaller gaps produced more Interaction results in this verified reference example.</a:t>
            </a:r>
          </a:p>
        </p:txBody>
      </p:sp>
      <p:sp>
        <p:nvSpPr>
          <p:cNvPr id="14" name="">
            <a:extLst xmlns:a="http://schemas.openxmlformats.org/drawingml/2006/main">
              <a:ext uri="{FF2B5EF4-FFF2-40B4-BE49-F238E27FC236}">
                <a16:creationId xmlns:a16="http://schemas.microsoft.com/office/drawing/2014/main" id="{C17ADA05-DBD2-4E9A-A268-171E26F233FB}"/>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5A6D73"/>
                </a:solidFill>
                <a:latin typeface="Segoe UI"/>
                <a:ea typeface="Segoe UI"/>
                <a:cs typeface="Segoe UI"/>
              </a:defRPr>
            </a:pPr>
            <a:r>
              <a:rPr sz="900" b="0">
                <a:solidFill>
                  <a:srgbClr val="5A6D73"/>
                </a:solidFill>
                <a:latin typeface="Segoe UI"/>
                <a:ea typeface="Segoe UI"/>
                <a:cs typeface="Segoe UI"/>
              </a:rPr>
              <a:t>Neyer Gap Test V1.14</a:t>
            </a:r>
          </a:p>
        </p:txBody>
      </p:sp>
    </p:spTree>
    <p:extLst>
      <p:ext uri="{BB962C8B-B14F-4D97-AF65-F5344CB8AC3E}">
        <p14:creationId xmlns:p14="http://schemas.microsoft.com/office/powerpoint/2010/main" val="200266498"/>
      </p:ext>
    </p:extLst>
  </p:cSld>
</p:sld>
</file>

<file path=ppt/slides/slide4.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3CD329C6-D429-4FC3-A630-928AD9EF92AD}"/>
              </a:ext>
            </a:extLst>
          </p:cNvPr>
          <p:cNvSpPr>
            <a:spLocks xmlns:a="http://schemas.openxmlformats.org/drawingml/2006/main" noGrp="1"/>
          </p:cNvSpPr>
          <p:nvPr/>
        </p:nvSpPr>
        <p:spPr>
          <a:xfrm xmlns:a="http://schemas.openxmlformats.org/drawingml/2006/main">
            <a:off x="552450" y="3238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176F68"/>
                </a:solidFill>
                <a:latin typeface="Segoe UI"/>
                <a:ea typeface="Segoe UI"/>
                <a:cs typeface="Segoe UI"/>
              </a:defRPr>
            </a:pPr>
            <a:r>
              <a:rPr sz="1200" b="1">
                <a:solidFill>
                  <a:srgbClr val="176F68"/>
                </a:solidFill>
                <a:latin typeface="Segoe UI"/>
                <a:ea typeface="Segoe UI"/>
                <a:cs typeface="Segoe UI"/>
              </a:rPr>
              <a:t>04</a:t>
            </a:r>
          </a:p>
        </p:txBody>
      </p:sp>
      <p:sp>
        <p:nvSpPr>
          <p:cNvPr id="2" name="">
            <a:extLst xmlns:a="http://schemas.openxmlformats.org/drawingml/2006/main">
              <a:ext uri="{FF2B5EF4-FFF2-40B4-BE49-F238E27FC236}">
                <a16:creationId xmlns:a16="http://schemas.microsoft.com/office/drawing/2014/main" id="{A02767FE-C59F-4AEF-9FBE-CBB67CEDCDCC}"/>
              </a:ext>
            </a:extLst>
          </p:cNvPr>
          <p:cNvSpPr>
            <a:spLocks xmlns:a="http://schemas.openxmlformats.org/drawingml/2006/main" noGrp="1"/>
          </p:cNvSpPr>
          <p:nvPr/>
        </p:nvSpPr>
        <p:spPr>
          <a:xfrm xmlns:a="http://schemas.openxmlformats.org/drawingml/2006/main">
            <a:off x="1066800" y="266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7313A"/>
                </a:solidFill>
                <a:latin typeface="Segoe UI"/>
                <a:ea typeface="Segoe UI"/>
                <a:cs typeface="Segoe UI"/>
              </a:defRPr>
            </a:pPr>
            <a:r>
              <a:rPr sz="2550" b="1">
                <a:solidFill>
                  <a:srgbClr val="17313A"/>
                </a:solidFill>
                <a:latin typeface="Segoe UI"/>
                <a:ea typeface="Segoe UI"/>
                <a:cs typeface="Segoe UI"/>
              </a:rPr>
              <a:t>How the next useful gap is selected</a:t>
            </a:r>
          </a:p>
        </p:txBody>
      </p:sp>
      <p:sp>
        <p:nvSpPr>
          <p:cNvPr id="3" name="">
            <a:extLst xmlns:a="http://schemas.openxmlformats.org/drawingml/2006/main">
              <a:ext uri="{FF2B5EF4-FFF2-40B4-BE49-F238E27FC236}">
                <a16:creationId xmlns:a16="http://schemas.microsoft.com/office/drawing/2014/main" id="{8052F75C-0AA7-4405-B760-3AB29CFBF712}"/>
              </a:ext>
            </a:extLst>
          </p:cNvPr>
          <p:cNvSpPr>
            <a:spLocks xmlns:a="http://schemas.openxmlformats.org/drawingml/2006/main" noGrp="1"/>
          </p:cNvSpPr>
          <p:nvPr/>
        </p:nvSpPr>
        <p:spPr>
          <a:xfrm xmlns:a="http://schemas.openxmlformats.org/drawingml/2006/main">
            <a:off x="571500" y="914400"/>
            <a:ext cx="11049000" cy="0"/>
          </a:xfrm>
          <a:prstGeom xmlns:a="http://schemas.openxmlformats.org/drawingml/2006/main" prst="line">
            <a:avLst/>
          </a:prstGeom>
          <a:noFill xmlns:a="http://schemas.openxmlformats.org/drawingml/2006/main"/>
          <a:ln xmlns:a="http://schemas.openxmlformats.org/drawingml/2006/main" w="12383">
            <a:solidFill>
              <a:srgbClr val="BFD0CF"/>
            </a:solidFill>
            <a:prstDash val="solid"/>
          </a:ln>
        </p:spPr>
      </p:sp>
      <p:sp>
        <p:nvSpPr>
          <p:cNvPr id="4" name="">
            <a:extLst xmlns:a="http://schemas.openxmlformats.org/drawingml/2006/main">
              <a:ext uri="{FF2B5EF4-FFF2-40B4-BE49-F238E27FC236}">
                <a16:creationId xmlns:a16="http://schemas.microsoft.com/office/drawing/2014/main" id="{0F574CEF-F204-4E85-8637-1DBCE33FDBFC}"/>
              </a:ext>
            </a:extLst>
          </p:cNvPr>
          <p:cNvSpPr>
            <a:spLocks xmlns:a="http://schemas.openxmlformats.org/drawingml/2006/main" noGrp="1"/>
          </p:cNvSpPr>
          <p:nvPr/>
        </p:nvSpPr>
        <p:spPr>
          <a:xfrm xmlns:a="http://schemas.openxmlformats.org/drawingml/2006/main">
            <a:off x="2905125" y="10668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A95020"/>
                </a:solidFill>
                <a:latin typeface="Segoe UI"/>
                <a:ea typeface="Segoe UI"/>
                <a:cs typeface="Segoe UI"/>
              </a:defRPr>
            </a:pPr>
            <a:r>
              <a:rPr sz="1125" b="1">
                <a:solidFill>
                  <a:srgbClr val="A95020"/>
                </a:solidFill>
                <a:latin typeface="Segoe UI"/>
                <a:ea typeface="Segoe UI"/>
                <a:cs typeface="Segoe UI"/>
              </a:rPr>
              <a:t>smaller gap</a:t>
            </a:r>
          </a:p>
        </p:txBody>
      </p:sp>
      <p:sp>
        <p:nvSpPr>
          <p:cNvPr id="5" name="">
            <a:extLst xmlns:a="http://schemas.openxmlformats.org/drawingml/2006/main">
              <a:ext uri="{FF2B5EF4-FFF2-40B4-BE49-F238E27FC236}">
                <a16:creationId xmlns:a16="http://schemas.microsoft.com/office/drawing/2014/main" id="{BDC07799-A950-4B6E-8828-EC8453FE6EE0}"/>
              </a:ext>
            </a:extLst>
          </p:cNvPr>
          <p:cNvSpPr>
            <a:spLocks xmlns:a="http://schemas.openxmlformats.org/drawingml/2006/main" noGrp="1"/>
          </p:cNvSpPr>
          <p:nvPr/>
        </p:nvSpPr>
        <p:spPr>
          <a:xfrm xmlns:a="http://schemas.openxmlformats.org/drawingml/2006/main">
            <a:off x="9810750" y="10668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2F647A"/>
                </a:solidFill>
                <a:latin typeface="Segoe UI"/>
                <a:ea typeface="Segoe UI"/>
                <a:cs typeface="Segoe UI"/>
              </a:defRPr>
            </a:pPr>
            <a:r>
              <a:rPr sz="1125" b="1">
                <a:solidFill>
                  <a:srgbClr val="2F647A"/>
                </a:solidFill>
                <a:latin typeface="Segoe UI"/>
                <a:ea typeface="Segoe UI"/>
                <a:cs typeface="Segoe UI"/>
              </a:rPr>
              <a:t>larger gap</a:t>
            </a:r>
          </a:p>
        </p:txBody>
      </p:sp>
      <p:sp>
        <p:nvSpPr>
          <p:cNvPr id="6" name="">
            <a:extLst xmlns:a="http://schemas.openxmlformats.org/drawingml/2006/main">
              <a:ext uri="{FF2B5EF4-FFF2-40B4-BE49-F238E27FC236}">
                <a16:creationId xmlns:a16="http://schemas.microsoft.com/office/drawing/2014/main" id="{7752C926-C774-4E8E-A6A9-114B7B72447A}"/>
              </a:ext>
            </a:extLst>
          </p:cNvPr>
          <p:cNvSpPr>
            <a:spLocks xmlns:a="http://schemas.openxmlformats.org/drawingml/2006/main" noGrp="1"/>
          </p:cNvSpPr>
          <p:nvPr/>
        </p:nvSpPr>
        <p:spPr>
          <a:xfrm xmlns:a="http://schemas.openxmlformats.org/drawingml/2006/main">
            <a:off x="6667500" y="1333500"/>
            <a:ext cx="161925" cy="161925"/>
          </a:xfrm>
          <a:prstGeom xmlns:a="http://schemas.openxmlformats.org/drawingml/2006/main" prst="ellipse">
            <a:avLst/>
          </a:prstGeom>
          <a:solidFill xmlns:a="http://schemas.openxmlformats.org/drawingml/2006/main">
            <a:srgbClr val="A95020"/>
          </a:solidFill>
          <a:ln xmlns:a="http://schemas.openxmlformats.org/drawingml/2006/main" w="9525">
            <a:solidFill>
              <a:srgbClr val="A95020"/>
            </a:solidFill>
          </a:ln>
        </p:spPr>
      </p:sp>
      <p:sp>
        <p:nvSpPr>
          <p:cNvPr id="7" name="">
            <a:extLst xmlns:a="http://schemas.openxmlformats.org/drawingml/2006/main">
              <a:ext uri="{FF2B5EF4-FFF2-40B4-BE49-F238E27FC236}">
                <a16:creationId xmlns:a16="http://schemas.microsoft.com/office/drawing/2014/main" id="{4F0D68C3-DFF6-4F73-BC8B-D46AFEF52A22}"/>
              </a:ext>
            </a:extLst>
          </p:cNvPr>
          <p:cNvSpPr>
            <a:spLocks xmlns:a="http://schemas.openxmlformats.org/drawingml/2006/main" noGrp="1"/>
          </p:cNvSpPr>
          <p:nvPr/>
        </p:nvSpPr>
        <p:spPr>
          <a:xfrm xmlns:a="http://schemas.openxmlformats.org/drawingml/2006/main">
            <a:off x="6877050" y="1285875"/>
            <a:ext cx="1095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A6D73"/>
                </a:solidFill>
                <a:latin typeface="Segoe UI"/>
                <a:ea typeface="Segoe UI"/>
                <a:cs typeface="Segoe UI"/>
              </a:defRPr>
            </a:pPr>
            <a:r>
              <a:rPr sz="1050" b="0">
                <a:solidFill>
                  <a:srgbClr val="5A6D73"/>
                </a:solidFill>
                <a:latin typeface="Segoe UI"/>
                <a:ea typeface="Segoe UI"/>
                <a:cs typeface="Segoe UI"/>
              </a:rPr>
              <a:t>Interaction</a:t>
            </a:r>
          </a:p>
        </p:txBody>
      </p:sp>
      <p:sp>
        <p:nvSpPr>
          <p:cNvPr id="8" name="">
            <a:extLst xmlns:a="http://schemas.openxmlformats.org/drawingml/2006/main">
              <a:ext uri="{FF2B5EF4-FFF2-40B4-BE49-F238E27FC236}">
                <a16:creationId xmlns:a16="http://schemas.microsoft.com/office/drawing/2014/main" id="{A3D1936B-6312-464C-95CA-70165F55A14C}"/>
              </a:ext>
            </a:extLst>
          </p:cNvPr>
          <p:cNvSpPr>
            <a:spLocks xmlns:a="http://schemas.openxmlformats.org/drawingml/2006/main" noGrp="1"/>
          </p:cNvSpPr>
          <p:nvPr/>
        </p:nvSpPr>
        <p:spPr>
          <a:xfrm xmlns:a="http://schemas.openxmlformats.org/drawingml/2006/main">
            <a:off x="8096250" y="1333500"/>
            <a:ext cx="161925" cy="161925"/>
          </a:xfrm>
          <a:prstGeom xmlns:a="http://schemas.openxmlformats.org/drawingml/2006/main" prst="ellipse">
            <a:avLst/>
          </a:prstGeom>
          <a:solidFill xmlns:a="http://schemas.openxmlformats.org/drawingml/2006/main">
            <a:srgbClr val="2F647A"/>
          </a:solidFill>
          <a:ln xmlns:a="http://schemas.openxmlformats.org/drawingml/2006/main" w="9525">
            <a:solidFill>
              <a:srgbClr val="2F647A"/>
            </a:solidFill>
          </a:ln>
        </p:spPr>
      </p:sp>
      <p:sp>
        <p:nvSpPr>
          <p:cNvPr id="9" name="">
            <a:extLst xmlns:a="http://schemas.openxmlformats.org/drawingml/2006/main">
              <a:ext uri="{FF2B5EF4-FFF2-40B4-BE49-F238E27FC236}">
                <a16:creationId xmlns:a16="http://schemas.microsoft.com/office/drawing/2014/main" id="{249CA51C-F4BF-4E7E-AF07-6B1FEC2B461A}"/>
              </a:ext>
            </a:extLst>
          </p:cNvPr>
          <p:cNvSpPr>
            <a:spLocks xmlns:a="http://schemas.openxmlformats.org/drawingml/2006/main" noGrp="1"/>
          </p:cNvSpPr>
          <p:nvPr/>
        </p:nvSpPr>
        <p:spPr>
          <a:xfrm xmlns:a="http://schemas.openxmlformats.org/drawingml/2006/main">
            <a:off x="8305800" y="1285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A6D73"/>
                </a:solidFill>
                <a:latin typeface="Segoe UI"/>
                <a:ea typeface="Segoe UI"/>
                <a:cs typeface="Segoe UI"/>
              </a:defRPr>
            </a:pPr>
            <a:r>
              <a:rPr sz="1050" b="0">
                <a:solidFill>
                  <a:srgbClr val="5A6D73"/>
                </a:solidFill>
                <a:latin typeface="Segoe UI"/>
                <a:ea typeface="Segoe UI"/>
                <a:cs typeface="Segoe UI"/>
              </a:rPr>
              <a:t>No interaction</a:t>
            </a:r>
          </a:p>
        </p:txBody>
      </p:sp>
      <p:sp>
        <p:nvSpPr>
          <p:cNvPr id="10" name="">
            <a:extLst xmlns:a="http://schemas.openxmlformats.org/drawingml/2006/main">
              <a:ext uri="{FF2B5EF4-FFF2-40B4-BE49-F238E27FC236}">
                <a16:creationId xmlns:a16="http://schemas.microsoft.com/office/drawing/2014/main" id="{2E10A607-4418-44E0-97A7-BA6C0CF7A6A7}"/>
              </a:ext>
            </a:extLst>
          </p:cNvPr>
          <p:cNvSpPr>
            <a:spLocks xmlns:a="http://schemas.openxmlformats.org/drawingml/2006/main" noGrp="1"/>
          </p:cNvSpPr>
          <p:nvPr/>
        </p:nvSpPr>
        <p:spPr>
          <a:xfrm xmlns:a="http://schemas.openxmlformats.org/drawingml/2006/main">
            <a:off x="9667875" y="1314450"/>
            <a:ext cx="200025" cy="200025"/>
          </a:xfrm>
          <a:prstGeom xmlns:a="http://schemas.openxmlformats.org/drawingml/2006/main" prst="diamond">
            <a:avLst/>
          </a:prstGeom>
          <a:solidFill xmlns:a="http://schemas.openxmlformats.org/drawingml/2006/main">
            <a:srgbClr val="8A6812"/>
          </a:solidFill>
          <a:ln xmlns:a="http://schemas.openxmlformats.org/drawingml/2006/main" w="9525">
            <a:solidFill>
              <a:srgbClr val="8A6812"/>
            </a:solidFill>
          </a:ln>
        </p:spPr>
      </p:sp>
      <p:sp>
        <p:nvSpPr>
          <p:cNvPr id="11" name="">
            <a:extLst xmlns:a="http://schemas.openxmlformats.org/drawingml/2006/main">
              <a:ext uri="{FF2B5EF4-FFF2-40B4-BE49-F238E27FC236}">
                <a16:creationId xmlns:a16="http://schemas.microsoft.com/office/drawing/2014/main" id="{64397D7D-E414-4DB8-A616-26FE7E3938B0}"/>
              </a:ext>
            </a:extLst>
          </p:cNvPr>
          <p:cNvSpPr>
            <a:spLocks xmlns:a="http://schemas.openxmlformats.org/drawingml/2006/main" noGrp="1"/>
          </p:cNvSpPr>
          <p:nvPr/>
        </p:nvSpPr>
        <p:spPr>
          <a:xfrm xmlns:a="http://schemas.openxmlformats.org/drawingml/2006/main">
            <a:off x="9925050" y="1285875"/>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A6D73"/>
                </a:solidFill>
                <a:latin typeface="Segoe UI"/>
                <a:ea typeface="Segoe UI"/>
                <a:cs typeface="Segoe UI"/>
              </a:defRPr>
            </a:pPr>
            <a:r>
              <a:rPr sz="1050" b="0">
                <a:solidFill>
                  <a:srgbClr val="5A6D73"/>
                </a:solidFill>
                <a:latin typeface="Segoe UI"/>
                <a:ea typeface="Segoe UI"/>
                <a:cs typeface="Segoe UI"/>
              </a:rPr>
              <a:t>next request</a:t>
            </a:r>
          </a:p>
        </p:txBody>
      </p:sp>
      <p:sp>
        <p:nvSpPr>
          <p:cNvPr id="12" name="">
            <a:extLst xmlns:a="http://schemas.openxmlformats.org/drawingml/2006/main">
              <a:ext uri="{FF2B5EF4-FFF2-40B4-BE49-F238E27FC236}">
                <a16:creationId xmlns:a16="http://schemas.microsoft.com/office/drawing/2014/main" id="{48F2764C-33B9-4958-AD52-E29D12D7A9FC}"/>
              </a:ext>
            </a:extLst>
          </p:cNvPr>
          <p:cNvSpPr>
            <a:spLocks xmlns:a="http://schemas.openxmlformats.org/drawingml/2006/main" noGrp="1"/>
          </p:cNvSpPr>
          <p:nvPr/>
        </p:nvSpPr>
        <p:spPr>
          <a:xfrm xmlns:a="http://schemas.openxmlformats.org/drawingml/2006/main">
            <a:off x="609600" y="17526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176F68"/>
                </a:solidFill>
                <a:latin typeface="Segoe UI"/>
                <a:ea typeface="Segoe UI"/>
                <a:cs typeface="Segoe UI"/>
              </a:defRPr>
            </a:pPr>
            <a:r>
              <a:rPr sz="1050" b="1">
                <a:solidFill>
                  <a:srgbClr val="176F68"/>
                </a:solidFill>
                <a:latin typeface="Segoe UI"/>
                <a:ea typeface="Segoe UI"/>
                <a:cs typeface="Segoe UI"/>
              </a:rPr>
              <a:t>STAGE 1</a:t>
            </a:r>
          </a:p>
        </p:txBody>
      </p:sp>
      <p:sp>
        <p:nvSpPr>
          <p:cNvPr id="13" name="">
            <a:extLst xmlns:a="http://schemas.openxmlformats.org/drawingml/2006/main">
              <a:ext uri="{FF2B5EF4-FFF2-40B4-BE49-F238E27FC236}">
                <a16:creationId xmlns:a16="http://schemas.microsoft.com/office/drawing/2014/main" id="{14A45EC5-FC0C-4AFB-AF8C-27BF353E84DE}"/>
              </a:ext>
            </a:extLst>
          </p:cNvPr>
          <p:cNvSpPr>
            <a:spLocks xmlns:a="http://schemas.openxmlformats.org/drawingml/2006/main" noGrp="1"/>
          </p:cNvSpPr>
          <p:nvPr/>
        </p:nvSpPr>
        <p:spPr>
          <a:xfrm xmlns:a="http://schemas.openxmlformats.org/drawingml/2006/main">
            <a:off x="609600" y="2000250"/>
            <a:ext cx="2076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7313A"/>
                </a:solidFill>
                <a:latin typeface="Segoe UI"/>
                <a:ea typeface="Segoe UI"/>
                <a:cs typeface="Segoe UI"/>
              </a:defRPr>
            </a:pPr>
            <a:r>
              <a:rPr sz="1500" b="1">
                <a:solidFill>
                  <a:srgbClr val="17313A"/>
                </a:solidFill>
                <a:latin typeface="Segoe UI"/>
                <a:ea typeface="Segoe UI"/>
                <a:cs typeface="Segoe UI"/>
              </a:rPr>
              <a:t>Find both outcomes</a:t>
            </a:r>
          </a:p>
        </p:txBody>
      </p:sp>
      <p:sp>
        <p:nvSpPr>
          <p:cNvPr id="14" name="">
            <a:extLst xmlns:a="http://schemas.openxmlformats.org/drawingml/2006/main">
              <a:ext uri="{FF2B5EF4-FFF2-40B4-BE49-F238E27FC236}">
                <a16:creationId xmlns:a16="http://schemas.microsoft.com/office/drawing/2014/main" id="{EFA7F009-2AEB-45CE-9086-3A3AF7DA7821}"/>
              </a:ext>
            </a:extLst>
          </p:cNvPr>
          <p:cNvSpPr>
            <a:spLocks xmlns:a="http://schemas.openxmlformats.org/drawingml/2006/main" noGrp="1"/>
          </p:cNvSpPr>
          <p:nvPr/>
        </p:nvSpPr>
        <p:spPr>
          <a:xfrm xmlns:a="http://schemas.openxmlformats.org/drawingml/2006/main">
            <a:off x="2952750" y="2152650"/>
            <a:ext cx="8096250" cy="0"/>
          </a:xfrm>
          <a:prstGeom xmlns:a="http://schemas.openxmlformats.org/drawingml/2006/main" prst="line">
            <a:avLst/>
          </a:prstGeom>
          <a:noFill xmlns:a="http://schemas.openxmlformats.org/drawingml/2006/main"/>
          <a:ln xmlns:a="http://schemas.openxmlformats.org/drawingml/2006/main" w="28575">
            <a:solidFill>
              <a:srgbClr val="BFD0CF"/>
            </a:solidFill>
            <a:prstDash val="solid"/>
          </a:ln>
        </p:spPr>
      </p:sp>
      <p:sp>
        <p:nvSpPr>
          <p:cNvPr id="15" name="">
            <a:extLst xmlns:a="http://schemas.openxmlformats.org/drawingml/2006/main">
              <a:ext uri="{FF2B5EF4-FFF2-40B4-BE49-F238E27FC236}">
                <a16:creationId xmlns:a16="http://schemas.microsoft.com/office/drawing/2014/main" id="{B5839130-82D2-476B-9025-29D5A324D6C3}"/>
              </a:ext>
            </a:extLst>
          </p:cNvPr>
          <p:cNvSpPr>
            <a:spLocks xmlns:a="http://schemas.openxmlformats.org/drawingml/2006/main" noGrp="1"/>
          </p:cNvSpPr>
          <p:nvPr/>
        </p:nvSpPr>
        <p:spPr>
          <a:xfrm xmlns:a="http://schemas.openxmlformats.org/drawingml/2006/main">
            <a:off x="2609850" y="2524125"/>
            <a:ext cx="247650" cy="238125"/>
          </a:xfrm>
          <a:prstGeom xmlns:a="http://schemas.openxmlformats.org/drawingml/2006/main" prst="downArrow">
            <a:avLst/>
          </a:prstGeom>
          <a:solidFill xmlns:a="http://schemas.openxmlformats.org/drawingml/2006/main">
            <a:srgbClr val="DCEFEB"/>
          </a:solidFill>
          <a:ln xmlns:a="http://schemas.openxmlformats.org/drawingml/2006/main" w="9525">
            <a:solidFill>
              <a:srgbClr val="176F68"/>
            </a:solidFill>
          </a:ln>
        </p:spPr>
      </p:sp>
      <p:sp>
        <p:nvSpPr>
          <p:cNvPr id="16" name="">
            <a:extLst xmlns:a="http://schemas.openxmlformats.org/drawingml/2006/main">
              <a:ext uri="{FF2B5EF4-FFF2-40B4-BE49-F238E27FC236}">
                <a16:creationId xmlns:a16="http://schemas.microsoft.com/office/drawing/2014/main" id="{64B6D7D5-CC11-4671-B76C-1C0693DF5B92}"/>
              </a:ext>
            </a:extLst>
          </p:cNvPr>
          <p:cNvSpPr>
            <a:spLocks xmlns:a="http://schemas.openxmlformats.org/drawingml/2006/main" noGrp="1"/>
          </p:cNvSpPr>
          <p:nvPr/>
        </p:nvSpPr>
        <p:spPr>
          <a:xfrm xmlns:a="http://schemas.openxmlformats.org/drawingml/2006/main">
            <a:off x="571500" y="2724150"/>
            <a:ext cx="10477500" cy="0"/>
          </a:xfrm>
          <a:prstGeom xmlns:a="http://schemas.openxmlformats.org/drawingml/2006/main" prst="line">
            <a:avLst/>
          </a:prstGeom>
          <a:noFill xmlns:a="http://schemas.openxmlformats.org/drawingml/2006/main"/>
          <a:ln xmlns:a="http://schemas.openxmlformats.org/drawingml/2006/main" w="9525">
            <a:solidFill>
              <a:srgbClr val="DCE5E3"/>
            </a:solidFill>
            <a:prstDash val="solid"/>
          </a:ln>
        </p:spPr>
      </p:sp>
      <p:sp>
        <p:nvSpPr>
          <p:cNvPr id="17" name="">
            <a:extLst xmlns:a="http://schemas.openxmlformats.org/drawingml/2006/main">
              <a:ext uri="{FF2B5EF4-FFF2-40B4-BE49-F238E27FC236}">
                <a16:creationId xmlns:a16="http://schemas.microsoft.com/office/drawing/2014/main" id="{E366A8B0-5239-44DE-9F2A-D98D33079AEE}"/>
              </a:ext>
            </a:extLst>
          </p:cNvPr>
          <p:cNvSpPr>
            <a:spLocks xmlns:a="http://schemas.openxmlformats.org/drawingml/2006/main" noGrp="1"/>
          </p:cNvSpPr>
          <p:nvPr/>
        </p:nvSpPr>
        <p:spPr>
          <a:xfrm xmlns:a="http://schemas.openxmlformats.org/drawingml/2006/main">
            <a:off x="609600" y="28575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176F68"/>
                </a:solidFill>
                <a:latin typeface="Segoe UI"/>
                <a:ea typeface="Segoe UI"/>
                <a:cs typeface="Segoe UI"/>
              </a:defRPr>
            </a:pPr>
            <a:r>
              <a:rPr sz="1050" b="1">
                <a:solidFill>
                  <a:srgbClr val="176F68"/>
                </a:solidFill>
                <a:latin typeface="Segoe UI"/>
                <a:ea typeface="Segoe UI"/>
                <a:cs typeface="Segoe UI"/>
              </a:rPr>
              <a:t>STAGE 2, PART 1</a:t>
            </a:r>
          </a:p>
        </p:txBody>
      </p:sp>
      <p:sp>
        <p:nvSpPr>
          <p:cNvPr id="18" name="">
            <a:extLst xmlns:a="http://schemas.openxmlformats.org/drawingml/2006/main">
              <a:ext uri="{FF2B5EF4-FFF2-40B4-BE49-F238E27FC236}">
                <a16:creationId xmlns:a16="http://schemas.microsoft.com/office/drawing/2014/main" id="{24189E7F-4821-4687-9379-86B7F116BB08}"/>
              </a:ext>
            </a:extLst>
          </p:cNvPr>
          <p:cNvSpPr>
            <a:spLocks xmlns:a="http://schemas.openxmlformats.org/drawingml/2006/main" noGrp="1"/>
          </p:cNvSpPr>
          <p:nvPr/>
        </p:nvSpPr>
        <p:spPr>
          <a:xfrm xmlns:a="http://schemas.openxmlformats.org/drawingml/2006/main">
            <a:off x="609600" y="3105150"/>
            <a:ext cx="2076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7313A"/>
                </a:solidFill>
                <a:latin typeface="Segoe UI"/>
                <a:ea typeface="Segoe UI"/>
                <a:cs typeface="Segoe UI"/>
              </a:defRPr>
            </a:pPr>
            <a:r>
              <a:rPr sz="1500" b="1">
                <a:solidFill>
                  <a:srgbClr val="17313A"/>
                </a:solidFill>
                <a:latin typeface="Segoe UI"/>
                <a:ea typeface="Segoe UI"/>
                <a:cs typeface="Segoe UI"/>
              </a:rPr>
              <a:t>Halve the wide separation</a:t>
            </a:r>
          </a:p>
        </p:txBody>
      </p:sp>
      <p:sp>
        <p:nvSpPr>
          <p:cNvPr id="19" name="">
            <a:extLst xmlns:a="http://schemas.openxmlformats.org/drawingml/2006/main">
              <a:ext uri="{FF2B5EF4-FFF2-40B4-BE49-F238E27FC236}">
                <a16:creationId xmlns:a16="http://schemas.microsoft.com/office/drawing/2014/main" id="{710D9753-5548-4E21-A684-50CA4AEB7DF8}"/>
              </a:ext>
            </a:extLst>
          </p:cNvPr>
          <p:cNvSpPr>
            <a:spLocks xmlns:a="http://schemas.openxmlformats.org/drawingml/2006/main" noGrp="1"/>
          </p:cNvSpPr>
          <p:nvPr/>
        </p:nvSpPr>
        <p:spPr>
          <a:xfrm xmlns:a="http://schemas.openxmlformats.org/drawingml/2006/main">
            <a:off x="2952750" y="3257550"/>
            <a:ext cx="8096250" cy="0"/>
          </a:xfrm>
          <a:prstGeom xmlns:a="http://schemas.openxmlformats.org/drawingml/2006/main" prst="line">
            <a:avLst/>
          </a:prstGeom>
          <a:noFill xmlns:a="http://schemas.openxmlformats.org/drawingml/2006/main"/>
          <a:ln xmlns:a="http://schemas.openxmlformats.org/drawingml/2006/main" w="28575">
            <a:solidFill>
              <a:srgbClr val="BFD0CF"/>
            </a:solidFill>
            <a:prstDash val="solid"/>
          </a:ln>
        </p:spPr>
      </p:sp>
      <p:sp>
        <p:nvSpPr>
          <p:cNvPr id="20" name="">
            <a:extLst xmlns:a="http://schemas.openxmlformats.org/drawingml/2006/main">
              <a:ext uri="{FF2B5EF4-FFF2-40B4-BE49-F238E27FC236}">
                <a16:creationId xmlns:a16="http://schemas.microsoft.com/office/drawing/2014/main" id="{74850D98-6884-4309-8043-8AF53B640F25}"/>
              </a:ext>
            </a:extLst>
          </p:cNvPr>
          <p:cNvSpPr>
            <a:spLocks xmlns:a="http://schemas.openxmlformats.org/drawingml/2006/main" noGrp="1"/>
          </p:cNvSpPr>
          <p:nvPr/>
        </p:nvSpPr>
        <p:spPr>
          <a:xfrm xmlns:a="http://schemas.openxmlformats.org/drawingml/2006/main">
            <a:off x="2609850" y="3629025"/>
            <a:ext cx="247650" cy="238125"/>
          </a:xfrm>
          <a:prstGeom xmlns:a="http://schemas.openxmlformats.org/drawingml/2006/main" prst="downArrow">
            <a:avLst/>
          </a:prstGeom>
          <a:solidFill xmlns:a="http://schemas.openxmlformats.org/drawingml/2006/main">
            <a:srgbClr val="DCEFEB"/>
          </a:solidFill>
          <a:ln xmlns:a="http://schemas.openxmlformats.org/drawingml/2006/main" w="9525">
            <a:solidFill>
              <a:srgbClr val="176F68"/>
            </a:solidFill>
          </a:ln>
        </p:spPr>
      </p:sp>
      <p:sp>
        <p:nvSpPr>
          <p:cNvPr id="21" name="">
            <a:extLst xmlns:a="http://schemas.openxmlformats.org/drawingml/2006/main">
              <a:ext uri="{FF2B5EF4-FFF2-40B4-BE49-F238E27FC236}">
                <a16:creationId xmlns:a16="http://schemas.microsoft.com/office/drawing/2014/main" id="{FC412585-F91F-4CA2-8FFD-E6BF3BDCB7AA}"/>
              </a:ext>
            </a:extLst>
          </p:cNvPr>
          <p:cNvSpPr>
            <a:spLocks xmlns:a="http://schemas.openxmlformats.org/drawingml/2006/main" noGrp="1"/>
          </p:cNvSpPr>
          <p:nvPr/>
        </p:nvSpPr>
        <p:spPr>
          <a:xfrm xmlns:a="http://schemas.openxmlformats.org/drawingml/2006/main">
            <a:off x="571500" y="3829050"/>
            <a:ext cx="10477500" cy="0"/>
          </a:xfrm>
          <a:prstGeom xmlns:a="http://schemas.openxmlformats.org/drawingml/2006/main" prst="line">
            <a:avLst/>
          </a:prstGeom>
          <a:noFill xmlns:a="http://schemas.openxmlformats.org/drawingml/2006/main"/>
          <a:ln xmlns:a="http://schemas.openxmlformats.org/drawingml/2006/main" w="9525">
            <a:solidFill>
              <a:srgbClr val="DCE5E3"/>
            </a:solidFill>
            <a:prstDash val="solid"/>
          </a:ln>
        </p:spPr>
      </p:sp>
      <p:sp>
        <p:nvSpPr>
          <p:cNvPr id="22" name="">
            <a:extLst xmlns:a="http://schemas.openxmlformats.org/drawingml/2006/main">
              <a:ext uri="{FF2B5EF4-FFF2-40B4-BE49-F238E27FC236}">
                <a16:creationId xmlns:a16="http://schemas.microsoft.com/office/drawing/2014/main" id="{3F677AEA-5766-48FA-B4F9-DDE8C20FBB18}"/>
              </a:ext>
            </a:extLst>
          </p:cNvPr>
          <p:cNvSpPr>
            <a:spLocks xmlns:a="http://schemas.openxmlformats.org/drawingml/2006/main" noGrp="1"/>
          </p:cNvSpPr>
          <p:nvPr/>
        </p:nvSpPr>
        <p:spPr>
          <a:xfrm xmlns:a="http://schemas.openxmlformats.org/drawingml/2006/main">
            <a:off x="609600" y="39624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176F68"/>
                </a:solidFill>
                <a:latin typeface="Segoe UI"/>
                <a:ea typeface="Segoe UI"/>
                <a:cs typeface="Segoe UI"/>
              </a:defRPr>
            </a:pPr>
            <a:r>
              <a:rPr sz="1050" b="1">
                <a:solidFill>
                  <a:srgbClr val="176F68"/>
                </a:solidFill>
                <a:latin typeface="Segoe UI"/>
                <a:ea typeface="Segoe UI"/>
                <a:cs typeface="Segoe UI"/>
              </a:rPr>
              <a:t>STAGE 2, PART 2</a:t>
            </a:r>
          </a:p>
        </p:txBody>
      </p:sp>
      <p:sp>
        <p:nvSpPr>
          <p:cNvPr id="23" name="">
            <a:extLst xmlns:a="http://schemas.openxmlformats.org/drawingml/2006/main">
              <a:ext uri="{FF2B5EF4-FFF2-40B4-BE49-F238E27FC236}">
                <a16:creationId xmlns:a16="http://schemas.microsoft.com/office/drawing/2014/main" id="{B7D0FE63-DA85-4C47-A222-327B82DDD68C}"/>
              </a:ext>
            </a:extLst>
          </p:cNvPr>
          <p:cNvSpPr>
            <a:spLocks xmlns:a="http://schemas.openxmlformats.org/drawingml/2006/main" noGrp="1"/>
          </p:cNvSpPr>
          <p:nvPr/>
        </p:nvSpPr>
        <p:spPr>
          <a:xfrm xmlns:a="http://schemas.openxmlformats.org/drawingml/2006/main">
            <a:off x="609600" y="4210050"/>
            <a:ext cx="2076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7313A"/>
                </a:solidFill>
                <a:latin typeface="Segoe UI"/>
                <a:ea typeface="Segoe UI"/>
                <a:cs typeface="Segoe UI"/>
              </a:defRPr>
            </a:pPr>
            <a:r>
              <a:rPr sz="1500" b="1">
                <a:solidFill>
                  <a:srgbClr val="17313A"/>
                </a:solidFill>
                <a:latin typeface="Segoe UI"/>
                <a:ea typeface="Segoe UI"/>
                <a:cs typeface="Segoe UI"/>
              </a:rPr>
              <a:t>Probe closer; width × 0.8</a:t>
            </a:r>
          </a:p>
        </p:txBody>
      </p:sp>
      <p:sp>
        <p:nvSpPr>
          <p:cNvPr id="24" name="">
            <a:extLst xmlns:a="http://schemas.openxmlformats.org/drawingml/2006/main">
              <a:ext uri="{FF2B5EF4-FFF2-40B4-BE49-F238E27FC236}">
                <a16:creationId xmlns:a16="http://schemas.microsoft.com/office/drawing/2014/main" id="{A2132CD1-CDDE-450D-9F4B-F740D166A87A}"/>
              </a:ext>
            </a:extLst>
          </p:cNvPr>
          <p:cNvSpPr>
            <a:spLocks xmlns:a="http://schemas.openxmlformats.org/drawingml/2006/main" noGrp="1"/>
          </p:cNvSpPr>
          <p:nvPr/>
        </p:nvSpPr>
        <p:spPr>
          <a:xfrm xmlns:a="http://schemas.openxmlformats.org/drawingml/2006/main">
            <a:off x="2952750" y="4362450"/>
            <a:ext cx="8096250" cy="0"/>
          </a:xfrm>
          <a:prstGeom xmlns:a="http://schemas.openxmlformats.org/drawingml/2006/main" prst="line">
            <a:avLst/>
          </a:prstGeom>
          <a:noFill xmlns:a="http://schemas.openxmlformats.org/drawingml/2006/main"/>
          <a:ln xmlns:a="http://schemas.openxmlformats.org/drawingml/2006/main" w="28575">
            <a:solidFill>
              <a:srgbClr val="BFD0CF"/>
            </a:solidFill>
            <a:prstDash val="solid"/>
          </a:ln>
        </p:spPr>
      </p:sp>
      <p:sp>
        <p:nvSpPr>
          <p:cNvPr id="25" name="">
            <a:extLst xmlns:a="http://schemas.openxmlformats.org/drawingml/2006/main">
              <a:ext uri="{FF2B5EF4-FFF2-40B4-BE49-F238E27FC236}">
                <a16:creationId xmlns:a16="http://schemas.microsoft.com/office/drawing/2014/main" id="{E4A1D8E5-588F-4058-A504-3D2A651BCEF5}"/>
              </a:ext>
            </a:extLst>
          </p:cNvPr>
          <p:cNvSpPr>
            <a:spLocks xmlns:a="http://schemas.openxmlformats.org/drawingml/2006/main" noGrp="1"/>
          </p:cNvSpPr>
          <p:nvPr/>
        </p:nvSpPr>
        <p:spPr>
          <a:xfrm xmlns:a="http://schemas.openxmlformats.org/drawingml/2006/main">
            <a:off x="2609850" y="4733925"/>
            <a:ext cx="247650" cy="238125"/>
          </a:xfrm>
          <a:prstGeom xmlns:a="http://schemas.openxmlformats.org/drawingml/2006/main" prst="downArrow">
            <a:avLst/>
          </a:prstGeom>
          <a:solidFill xmlns:a="http://schemas.openxmlformats.org/drawingml/2006/main">
            <a:srgbClr val="DCEFEB"/>
          </a:solidFill>
          <a:ln xmlns:a="http://schemas.openxmlformats.org/drawingml/2006/main" w="9525">
            <a:solidFill>
              <a:srgbClr val="176F68"/>
            </a:solidFill>
          </a:ln>
        </p:spPr>
      </p:sp>
      <p:sp>
        <p:nvSpPr>
          <p:cNvPr id="26" name="">
            <a:extLst xmlns:a="http://schemas.openxmlformats.org/drawingml/2006/main">
              <a:ext uri="{FF2B5EF4-FFF2-40B4-BE49-F238E27FC236}">
                <a16:creationId xmlns:a16="http://schemas.microsoft.com/office/drawing/2014/main" id="{A948E5E2-20DD-4B1A-824F-8945E4447172}"/>
              </a:ext>
            </a:extLst>
          </p:cNvPr>
          <p:cNvSpPr>
            <a:spLocks xmlns:a="http://schemas.openxmlformats.org/drawingml/2006/main" noGrp="1"/>
          </p:cNvSpPr>
          <p:nvPr/>
        </p:nvSpPr>
        <p:spPr>
          <a:xfrm xmlns:a="http://schemas.openxmlformats.org/drawingml/2006/main">
            <a:off x="571500" y="4933950"/>
            <a:ext cx="10477500" cy="0"/>
          </a:xfrm>
          <a:prstGeom xmlns:a="http://schemas.openxmlformats.org/drawingml/2006/main" prst="line">
            <a:avLst/>
          </a:prstGeom>
          <a:noFill xmlns:a="http://schemas.openxmlformats.org/drawingml/2006/main"/>
          <a:ln xmlns:a="http://schemas.openxmlformats.org/drawingml/2006/main" w="9525">
            <a:solidFill>
              <a:srgbClr val="DCE5E3"/>
            </a:solidFill>
            <a:prstDash val="solid"/>
          </a:ln>
        </p:spPr>
      </p:sp>
      <p:sp>
        <p:nvSpPr>
          <p:cNvPr id="27" name="">
            <a:extLst xmlns:a="http://schemas.openxmlformats.org/drawingml/2006/main">
              <a:ext uri="{FF2B5EF4-FFF2-40B4-BE49-F238E27FC236}">
                <a16:creationId xmlns:a16="http://schemas.microsoft.com/office/drawing/2014/main" id="{E5B27162-0AA5-4946-871D-C55EBB5B9E69}"/>
              </a:ext>
            </a:extLst>
          </p:cNvPr>
          <p:cNvSpPr>
            <a:spLocks xmlns:a="http://schemas.openxmlformats.org/drawingml/2006/main" noGrp="1"/>
          </p:cNvSpPr>
          <p:nvPr/>
        </p:nvSpPr>
        <p:spPr>
          <a:xfrm xmlns:a="http://schemas.openxmlformats.org/drawingml/2006/main">
            <a:off x="609600" y="50673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8A6812"/>
                </a:solidFill>
                <a:latin typeface="Segoe UI"/>
                <a:ea typeface="Segoe UI"/>
                <a:cs typeface="Segoe UI"/>
              </a:defRPr>
            </a:pPr>
            <a:r>
              <a:rPr sz="1050" b="1">
                <a:solidFill>
                  <a:srgbClr val="8A6812"/>
                </a:solidFill>
                <a:latin typeface="Segoe UI"/>
                <a:ea typeface="Segoe UI"/>
                <a:cs typeface="Segoe UI"/>
              </a:rPr>
              <a:t>D-OPTIMAL</a:t>
            </a:r>
          </a:p>
        </p:txBody>
      </p:sp>
      <p:sp>
        <p:nvSpPr>
          <p:cNvPr id="28" name="">
            <a:extLst xmlns:a="http://schemas.openxmlformats.org/drawingml/2006/main">
              <a:ext uri="{FF2B5EF4-FFF2-40B4-BE49-F238E27FC236}">
                <a16:creationId xmlns:a16="http://schemas.microsoft.com/office/drawing/2014/main" id="{3CD31EC4-EE72-4CD1-B827-50B4DFFD0900}"/>
              </a:ext>
            </a:extLst>
          </p:cNvPr>
          <p:cNvSpPr>
            <a:spLocks xmlns:a="http://schemas.openxmlformats.org/drawingml/2006/main" noGrp="1"/>
          </p:cNvSpPr>
          <p:nvPr/>
        </p:nvSpPr>
        <p:spPr>
          <a:xfrm xmlns:a="http://schemas.openxmlformats.org/drawingml/2006/main">
            <a:off x="609600" y="5314950"/>
            <a:ext cx="2076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7313A"/>
                </a:solidFill>
                <a:latin typeface="Segoe UI"/>
                <a:ea typeface="Segoe UI"/>
                <a:cs typeface="Segoe UI"/>
              </a:defRPr>
            </a:pPr>
            <a:r>
              <a:rPr sz="1500" b="1">
                <a:solidFill>
                  <a:srgbClr val="17313A"/>
                </a:solidFill>
                <a:latin typeface="Segoe UI"/>
                <a:ea typeface="Segoe UI"/>
                <a:cs typeface="Segoe UI"/>
              </a:rPr>
              <a:t>Add the most information</a:t>
            </a:r>
          </a:p>
        </p:txBody>
      </p:sp>
      <p:sp>
        <p:nvSpPr>
          <p:cNvPr id="29" name="">
            <a:extLst xmlns:a="http://schemas.openxmlformats.org/drawingml/2006/main">
              <a:ext uri="{FF2B5EF4-FFF2-40B4-BE49-F238E27FC236}">
                <a16:creationId xmlns:a16="http://schemas.microsoft.com/office/drawing/2014/main" id="{7D0C966B-747F-4834-BCF5-890A6BAA6A65}"/>
              </a:ext>
            </a:extLst>
          </p:cNvPr>
          <p:cNvSpPr>
            <a:spLocks xmlns:a="http://schemas.openxmlformats.org/drawingml/2006/main" noGrp="1"/>
          </p:cNvSpPr>
          <p:nvPr/>
        </p:nvSpPr>
        <p:spPr>
          <a:xfrm xmlns:a="http://schemas.openxmlformats.org/drawingml/2006/main">
            <a:off x="2952750" y="5467350"/>
            <a:ext cx="8096250" cy="0"/>
          </a:xfrm>
          <a:prstGeom xmlns:a="http://schemas.openxmlformats.org/drawingml/2006/main" prst="line">
            <a:avLst/>
          </a:prstGeom>
          <a:noFill xmlns:a="http://schemas.openxmlformats.org/drawingml/2006/main"/>
          <a:ln xmlns:a="http://schemas.openxmlformats.org/drawingml/2006/main" w="28575">
            <a:solidFill>
              <a:srgbClr val="BFD0CF"/>
            </a:solidFill>
            <a:prstDash val="solid"/>
          </a:ln>
        </p:spPr>
      </p:sp>
      <p:sp>
        <p:nvSpPr>
          <p:cNvPr id="30" name="">
            <a:extLst xmlns:a="http://schemas.openxmlformats.org/drawingml/2006/main">
              <a:ext uri="{FF2B5EF4-FFF2-40B4-BE49-F238E27FC236}">
                <a16:creationId xmlns:a16="http://schemas.microsoft.com/office/drawing/2014/main" id="{DC2BC86A-9813-49EC-95CB-64E481A99CB1}"/>
              </a:ext>
            </a:extLst>
          </p:cNvPr>
          <p:cNvSpPr>
            <a:spLocks xmlns:a="http://schemas.openxmlformats.org/drawingml/2006/main" noGrp="1"/>
          </p:cNvSpPr>
          <p:nvPr/>
        </p:nvSpPr>
        <p:spPr>
          <a:xfrm xmlns:a="http://schemas.openxmlformats.org/drawingml/2006/main">
            <a:off x="3790950" y="2038350"/>
            <a:ext cx="228600" cy="22860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31" name="">
            <a:extLst xmlns:a="http://schemas.openxmlformats.org/drawingml/2006/main">
              <a:ext uri="{FF2B5EF4-FFF2-40B4-BE49-F238E27FC236}">
                <a16:creationId xmlns:a16="http://schemas.microsoft.com/office/drawing/2014/main" id="{D5AF9C91-A7EA-4A36-8299-4EE320F3ABCD}"/>
              </a:ext>
            </a:extLst>
          </p:cNvPr>
          <p:cNvSpPr>
            <a:spLocks xmlns:a="http://schemas.openxmlformats.org/drawingml/2006/main" noGrp="1"/>
          </p:cNvSpPr>
          <p:nvPr/>
        </p:nvSpPr>
        <p:spPr>
          <a:xfrm xmlns:a="http://schemas.openxmlformats.org/drawingml/2006/main">
            <a:off x="9944100" y="2038350"/>
            <a:ext cx="228600" cy="22860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32" name="">
            <a:extLst xmlns:a="http://schemas.openxmlformats.org/drawingml/2006/main">
              <a:ext uri="{FF2B5EF4-FFF2-40B4-BE49-F238E27FC236}">
                <a16:creationId xmlns:a16="http://schemas.microsoft.com/office/drawing/2014/main" id="{D24CDCA2-73CB-4E91-B904-134629D96C66}"/>
              </a:ext>
            </a:extLst>
          </p:cNvPr>
          <p:cNvSpPr>
            <a:spLocks xmlns:a="http://schemas.openxmlformats.org/drawingml/2006/main" noGrp="1"/>
          </p:cNvSpPr>
          <p:nvPr/>
        </p:nvSpPr>
        <p:spPr>
          <a:xfrm xmlns:a="http://schemas.openxmlformats.org/drawingml/2006/main">
            <a:off x="4095750" y="2066925"/>
            <a:ext cx="5753100" cy="171450"/>
          </a:xfrm>
          <a:prstGeom xmlns:a="http://schemas.openxmlformats.org/drawingml/2006/main" prst="leftRightArrow">
            <a:avLst/>
          </a:prstGeom>
          <a:solidFill xmlns:a="http://schemas.openxmlformats.org/drawingml/2006/main">
            <a:srgbClr val="DCEFEB"/>
          </a:solidFill>
          <a:ln xmlns:a="http://schemas.openxmlformats.org/drawingml/2006/main" w="9525">
            <a:solidFill>
              <a:srgbClr val="176F68"/>
            </a:solidFill>
          </a:ln>
        </p:spPr>
      </p:sp>
      <p:sp>
        <p:nvSpPr>
          <p:cNvPr id="33" name="">
            <a:extLst xmlns:a="http://schemas.openxmlformats.org/drawingml/2006/main">
              <a:ext uri="{FF2B5EF4-FFF2-40B4-BE49-F238E27FC236}">
                <a16:creationId xmlns:a16="http://schemas.microsoft.com/office/drawing/2014/main" id="{14BE03B6-1031-4F05-B3DC-B4C30355F904}"/>
              </a:ext>
            </a:extLst>
          </p:cNvPr>
          <p:cNvSpPr>
            <a:spLocks xmlns:a="http://schemas.openxmlformats.org/drawingml/2006/main" noGrp="1"/>
          </p:cNvSpPr>
          <p:nvPr/>
        </p:nvSpPr>
        <p:spPr>
          <a:xfrm xmlns:a="http://schemas.openxmlformats.org/drawingml/2006/main">
            <a:off x="4476750" y="3143250"/>
            <a:ext cx="228600" cy="22860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34" name="">
            <a:extLst xmlns:a="http://schemas.openxmlformats.org/drawingml/2006/main">
              <a:ext uri="{FF2B5EF4-FFF2-40B4-BE49-F238E27FC236}">
                <a16:creationId xmlns:a16="http://schemas.microsoft.com/office/drawing/2014/main" id="{96E976E1-FFDF-44E0-86C3-4B6091C3E975}"/>
              </a:ext>
            </a:extLst>
          </p:cNvPr>
          <p:cNvSpPr>
            <a:spLocks xmlns:a="http://schemas.openxmlformats.org/drawingml/2006/main" noGrp="1"/>
          </p:cNvSpPr>
          <p:nvPr/>
        </p:nvSpPr>
        <p:spPr>
          <a:xfrm xmlns:a="http://schemas.openxmlformats.org/drawingml/2006/main">
            <a:off x="9239250" y="3143250"/>
            <a:ext cx="228600" cy="22860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35" name="">
            <a:extLst xmlns:a="http://schemas.openxmlformats.org/drawingml/2006/main">
              <a:ext uri="{FF2B5EF4-FFF2-40B4-BE49-F238E27FC236}">
                <a16:creationId xmlns:a16="http://schemas.microsoft.com/office/drawing/2014/main" id="{39752940-1212-4150-BC8D-5A409949BE80}"/>
              </a:ext>
            </a:extLst>
          </p:cNvPr>
          <p:cNvSpPr>
            <a:spLocks xmlns:a="http://schemas.openxmlformats.org/drawingml/2006/main" noGrp="1"/>
          </p:cNvSpPr>
          <p:nvPr/>
        </p:nvSpPr>
        <p:spPr>
          <a:xfrm xmlns:a="http://schemas.openxmlformats.org/drawingml/2006/main">
            <a:off x="6858000" y="3105150"/>
            <a:ext cx="304800" cy="304800"/>
          </a:xfrm>
          <a:prstGeom xmlns:a="http://schemas.openxmlformats.org/drawingml/2006/main" prst="diamond">
            <a:avLst/>
          </a:prstGeom>
          <a:solidFill xmlns:a="http://schemas.openxmlformats.org/drawingml/2006/main">
            <a:srgbClr val="8A6812"/>
          </a:solidFill>
          <a:ln xmlns:a="http://schemas.openxmlformats.org/drawingml/2006/main" w="19050">
            <a:solidFill>
              <a:srgbClr val="FFFFFF"/>
            </a:solidFill>
          </a:ln>
        </p:spPr>
      </p:sp>
      <p:sp>
        <p:nvSpPr>
          <p:cNvPr id="36" name="">
            <a:extLst xmlns:a="http://schemas.openxmlformats.org/drawingml/2006/main">
              <a:ext uri="{FF2B5EF4-FFF2-40B4-BE49-F238E27FC236}">
                <a16:creationId xmlns:a16="http://schemas.microsoft.com/office/drawing/2014/main" id="{42CCF620-7A0B-4F08-B88D-A049B7A06163}"/>
              </a:ext>
            </a:extLst>
          </p:cNvPr>
          <p:cNvSpPr>
            <a:spLocks xmlns:a="http://schemas.openxmlformats.org/drawingml/2006/main" noGrp="1"/>
          </p:cNvSpPr>
          <p:nvPr/>
        </p:nvSpPr>
        <p:spPr>
          <a:xfrm xmlns:a="http://schemas.openxmlformats.org/drawingml/2006/main">
            <a:off x="4705350" y="3257550"/>
            <a:ext cx="2152650" cy="0"/>
          </a:xfrm>
          <a:prstGeom xmlns:a="http://schemas.openxmlformats.org/drawingml/2006/main" prst="line">
            <a:avLst/>
          </a:prstGeom>
          <a:noFill xmlns:a="http://schemas.openxmlformats.org/drawingml/2006/main"/>
          <a:ln xmlns:a="http://schemas.openxmlformats.org/drawingml/2006/main" w="19050">
            <a:solidFill>
              <a:srgbClr val="8A6812"/>
            </a:solidFill>
            <a:prstDash val="dash"/>
          </a:ln>
        </p:spPr>
      </p:sp>
      <p:sp>
        <p:nvSpPr>
          <p:cNvPr id="37" name="">
            <a:extLst xmlns:a="http://schemas.openxmlformats.org/drawingml/2006/main">
              <a:ext uri="{FF2B5EF4-FFF2-40B4-BE49-F238E27FC236}">
                <a16:creationId xmlns:a16="http://schemas.microsoft.com/office/drawing/2014/main" id="{1F8D85F2-29FC-4051-B8BA-F68504DCB380}"/>
              </a:ext>
            </a:extLst>
          </p:cNvPr>
          <p:cNvSpPr>
            <a:spLocks xmlns:a="http://schemas.openxmlformats.org/drawingml/2006/main" noGrp="1"/>
          </p:cNvSpPr>
          <p:nvPr/>
        </p:nvSpPr>
        <p:spPr>
          <a:xfrm xmlns:a="http://schemas.openxmlformats.org/drawingml/2006/main">
            <a:off x="7162800" y="3257550"/>
            <a:ext cx="2076450" cy="0"/>
          </a:xfrm>
          <a:prstGeom xmlns:a="http://schemas.openxmlformats.org/drawingml/2006/main" prst="line">
            <a:avLst/>
          </a:prstGeom>
          <a:noFill xmlns:a="http://schemas.openxmlformats.org/drawingml/2006/main"/>
          <a:ln xmlns:a="http://schemas.openxmlformats.org/drawingml/2006/main" w="19050">
            <a:solidFill>
              <a:srgbClr val="8A6812"/>
            </a:solidFill>
            <a:prstDash val="dash"/>
          </a:ln>
        </p:spPr>
      </p:sp>
      <p:sp>
        <p:nvSpPr>
          <p:cNvPr id="38" name="">
            <a:extLst xmlns:a="http://schemas.openxmlformats.org/drawingml/2006/main">
              <a:ext uri="{FF2B5EF4-FFF2-40B4-BE49-F238E27FC236}">
                <a16:creationId xmlns:a16="http://schemas.microsoft.com/office/drawing/2014/main" id="{C49D41B2-A0F3-42AA-A65B-21A6416E29EA}"/>
              </a:ext>
            </a:extLst>
          </p:cNvPr>
          <p:cNvSpPr>
            <a:spLocks xmlns:a="http://schemas.openxmlformats.org/drawingml/2006/main" noGrp="1"/>
          </p:cNvSpPr>
          <p:nvPr/>
        </p:nvSpPr>
        <p:spPr>
          <a:xfrm xmlns:a="http://schemas.openxmlformats.org/drawingml/2006/main">
            <a:off x="5857875" y="4248150"/>
            <a:ext cx="228600" cy="22860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39" name="">
            <a:extLst xmlns:a="http://schemas.openxmlformats.org/drawingml/2006/main">
              <a:ext uri="{FF2B5EF4-FFF2-40B4-BE49-F238E27FC236}">
                <a16:creationId xmlns:a16="http://schemas.microsoft.com/office/drawing/2014/main" id="{CC10C1FA-E5AB-4580-9A43-FADBAA133DD9}"/>
              </a:ext>
            </a:extLst>
          </p:cNvPr>
          <p:cNvSpPr>
            <a:spLocks xmlns:a="http://schemas.openxmlformats.org/drawingml/2006/main" noGrp="1"/>
          </p:cNvSpPr>
          <p:nvPr/>
        </p:nvSpPr>
        <p:spPr>
          <a:xfrm xmlns:a="http://schemas.openxmlformats.org/drawingml/2006/main">
            <a:off x="8048625" y="4248150"/>
            <a:ext cx="228600" cy="22860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40" name="">
            <a:extLst xmlns:a="http://schemas.openxmlformats.org/drawingml/2006/main">
              <a:ext uri="{FF2B5EF4-FFF2-40B4-BE49-F238E27FC236}">
                <a16:creationId xmlns:a16="http://schemas.microsoft.com/office/drawing/2014/main" id="{9F0DDF13-B11D-4A4A-AEBB-0DDE6F0C68A5}"/>
              </a:ext>
            </a:extLst>
          </p:cNvPr>
          <p:cNvSpPr>
            <a:spLocks xmlns:a="http://schemas.openxmlformats.org/drawingml/2006/main" noGrp="1"/>
          </p:cNvSpPr>
          <p:nvPr/>
        </p:nvSpPr>
        <p:spPr>
          <a:xfrm xmlns:a="http://schemas.openxmlformats.org/drawingml/2006/main">
            <a:off x="6838950" y="4210050"/>
            <a:ext cx="304800" cy="304800"/>
          </a:xfrm>
          <a:prstGeom xmlns:a="http://schemas.openxmlformats.org/drawingml/2006/main" prst="diamond">
            <a:avLst/>
          </a:prstGeom>
          <a:solidFill xmlns:a="http://schemas.openxmlformats.org/drawingml/2006/main">
            <a:srgbClr val="8A6812"/>
          </a:solidFill>
          <a:ln xmlns:a="http://schemas.openxmlformats.org/drawingml/2006/main" w="19050">
            <a:solidFill>
              <a:srgbClr val="FFFFFF"/>
            </a:solidFill>
          </a:ln>
        </p:spPr>
      </p:sp>
      <p:sp>
        <p:nvSpPr>
          <p:cNvPr id="41" name="">
            <a:extLst xmlns:a="http://schemas.openxmlformats.org/drawingml/2006/main">
              <a:ext uri="{FF2B5EF4-FFF2-40B4-BE49-F238E27FC236}">
                <a16:creationId xmlns:a16="http://schemas.microsoft.com/office/drawing/2014/main" id="{58A310EA-BB56-4C0C-9B44-F519847D3583}"/>
              </a:ext>
            </a:extLst>
          </p:cNvPr>
          <p:cNvSpPr>
            <a:spLocks xmlns:a="http://schemas.openxmlformats.org/drawingml/2006/main" noGrp="1"/>
          </p:cNvSpPr>
          <p:nvPr/>
        </p:nvSpPr>
        <p:spPr>
          <a:xfrm xmlns:a="http://schemas.openxmlformats.org/drawingml/2006/main">
            <a:off x="6191250" y="4276725"/>
            <a:ext cx="1752600" cy="171450"/>
          </a:xfrm>
          <a:prstGeom xmlns:a="http://schemas.openxmlformats.org/drawingml/2006/main" prst="leftRightArrow">
            <a:avLst/>
          </a:prstGeom>
          <a:solidFill xmlns:a="http://schemas.openxmlformats.org/drawingml/2006/main">
            <a:srgbClr val="F6E5DC"/>
          </a:solidFill>
          <a:ln xmlns:a="http://schemas.openxmlformats.org/drawingml/2006/main" w="9525">
            <a:solidFill>
              <a:srgbClr val="A95020"/>
            </a:solidFill>
          </a:ln>
        </p:spPr>
      </p:sp>
      <p:sp>
        <p:nvSpPr>
          <p:cNvPr id="42" name="">
            <a:extLst xmlns:a="http://schemas.openxmlformats.org/drawingml/2006/main">
              <a:ext uri="{FF2B5EF4-FFF2-40B4-BE49-F238E27FC236}">
                <a16:creationId xmlns:a16="http://schemas.microsoft.com/office/drawing/2014/main" id="{192035F9-22FE-4B18-ADC3-307BC2A251A5}"/>
              </a:ext>
            </a:extLst>
          </p:cNvPr>
          <p:cNvSpPr>
            <a:spLocks xmlns:a="http://schemas.openxmlformats.org/drawingml/2006/main" noGrp="1"/>
          </p:cNvSpPr>
          <p:nvPr/>
        </p:nvSpPr>
        <p:spPr>
          <a:xfrm xmlns:a="http://schemas.openxmlformats.org/drawingml/2006/main">
            <a:off x="6115050" y="5353050"/>
            <a:ext cx="209550" cy="20955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43" name="">
            <a:extLst xmlns:a="http://schemas.openxmlformats.org/drawingml/2006/main">
              <a:ext uri="{FF2B5EF4-FFF2-40B4-BE49-F238E27FC236}">
                <a16:creationId xmlns:a16="http://schemas.microsoft.com/office/drawing/2014/main" id="{883F1212-C12D-4F35-8644-EFEBF44FA42D}"/>
              </a:ext>
            </a:extLst>
          </p:cNvPr>
          <p:cNvSpPr>
            <a:spLocks xmlns:a="http://schemas.openxmlformats.org/drawingml/2006/main" noGrp="1"/>
          </p:cNvSpPr>
          <p:nvPr/>
        </p:nvSpPr>
        <p:spPr>
          <a:xfrm xmlns:a="http://schemas.openxmlformats.org/drawingml/2006/main">
            <a:off x="6553200" y="5353050"/>
            <a:ext cx="209550" cy="20955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44" name="">
            <a:extLst xmlns:a="http://schemas.openxmlformats.org/drawingml/2006/main">
              <a:ext uri="{FF2B5EF4-FFF2-40B4-BE49-F238E27FC236}">
                <a16:creationId xmlns:a16="http://schemas.microsoft.com/office/drawing/2014/main" id="{4AB3D911-1212-4336-8A73-41102FFBC9C4}"/>
              </a:ext>
            </a:extLst>
          </p:cNvPr>
          <p:cNvSpPr>
            <a:spLocks xmlns:a="http://schemas.openxmlformats.org/drawingml/2006/main" noGrp="1"/>
          </p:cNvSpPr>
          <p:nvPr/>
        </p:nvSpPr>
        <p:spPr>
          <a:xfrm xmlns:a="http://schemas.openxmlformats.org/drawingml/2006/main">
            <a:off x="6991350" y="5353050"/>
            <a:ext cx="209550" cy="20955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45" name="">
            <a:extLst xmlns:a="http://schemas.openxmlformats.org/drawingml/2006/main">
              <a:ext uri="{FF2B5EF4-FFF2-40B4-BE49-F238E27FC236}">
                <a16:creationId xmlns:a16="http://schemas.microsoft.com/office/drawing/2014/main" id="{D90DE57B-3129-4FFB-B96E-425A6386AF5C}"/>
              </a:ext>
            </a:extLst>
          </p:cNvPr>
          <p:cNvSpPr>
            <a:spLocks xmlns:a="http://schemas.openxmlformats.org/drawingml/2006/main" noGrp="1"/>
          </p:cNvSpPr>
          <p:nvPr/>
        </p:nvSpPr>
        <p:spPr>
          <a:xfrm xmlns:a="http://schemas.openxmlformats.org/drawingml/2006/main">
            <a:off x="7429500" y="5353050"/>
            <a:ext cx="209550" cy="20955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46" name="">
            <a:extLst xmlns:a="http://schemas.openxmlformats.org/drawingml/2006/main">
              <a:ext uri="{FF2B5EF4-FFF2-40B4-BE49-F238E27FC236}">
                <a16:creationId xmlns:a16="http://schemas.microsoft.com/office/drawing/2014/main" id="{2102E7B9-C3B0-4C55-9CC3-BF0ED333130F}"/>
              </a:ext>
            </a:extLst>
          </p:cNvPr>
          <p:cNvSpPr>
            <a:spLocks xmlns:a="http://schemas.openxmlformats.org/drawingml/2006/main" noGrp="1"/>
          </p:cNvSpPr>
          <p:nvPr/>
        </p:nvSpPr>
        <p:spPr>
          <a:xfrm xmlns:a="http://schemas.openxmlformats.org/drawingml/2006/main">
            <a:off x="7867650" y="5353050"/>
            <a:ext cx="209550" cy="209550"/>
          </a:xfrm>
          <a:prstGeom xmlns:a="http://schemas.openxmlformats.org/drawingml/2006/main" prst="ellipse">
            <a:avLst/>
          </a:prstGeom>
          <a:solidFill xmlns:a="http://schemas.openxmlformats.org/drawingml/2006/main">
            <a:srgbClr val="A95020"/>
          </a:solidFill>
          <a:ln xmlns:a="http://schemas.openxmlformats.org/drawingml/2006/main" w="19050">
            <a:solidFill>
              <a:srgbClr val="FFFFFF"/>
            </a:solidFill>
          </a:ln>
        </p:spPr>
      </p:sp>
      <p:sp>
        <p:nvSpPr>
          <p:cNvPr id="47" name="">
            <a:extLst xmlns:a="http://schemas.openxmlformats.org/drawingml/2006/main">
              <a:ext uri="{FF2B5EF4-FFF2-40B4-BE49-F238E27FC236}">
                <a16:creationId xmlns:a16="http://schemas.microsoft.com/office/drawing/2014/main" id="{C174AD04-340A-4B98-838C-4B3CD484F315}"/>
              </a:ext>
            </a:extLst>
          </p:cNvPr>
          <p:cNvSpPr>
            <a:spLocks xmlns:a="http://schemas.openxmlformats.org/drawingml/2006/main" noGrp="1"/>
          </p:cNvSpPr>
          <p:nvPr/>
        </p:nvSpPr>
        <p:spPr>
          <a:xfrm xmlns:a="http://schemas.openxmlformats.org/drawingml/2006/main">
            <a:off x="8305800" y="5353050"/>
            <a:ext cx="209550" cy="209550"/>
          </a:xfrm>
          <a:prstGeom xmlns:a="http://schemas.openxmlformats.org/drawingml/2006/main" prst="ellipse">
            <a:avLst/>
          </a:prstGeom>
          <a:solidFill xmlns:a="http://schemas.openxmlformats.org/drawingml/2006/main">
            <a:srgbClr val="2F647A"/>
          </a:solidFill>
          <a:ln xmlns:a="http://schemas.openxmlformats.org/drawingml/2006/main" w="19050">
            <a:solidFill>
              <a:srgbClr val="FFFFFF"/>
            </a:solidFill>
          </a:ln>
        </p:spPr>
      </p:sp>
      <p:sp>
        <p:nvSpPr>
          <p:cNvPr id="48" name="">
            <a:extLst xmlns:a="http://schemas.openxmlformats.org/drawingml/2006/main">
              <a:ext uri="{FF2B5EF4-FFF2-40B4-BE49-F238E27FC236}">
                <a16:creationId xmlns:a16="http://schemas.microsoft.com/office/drawing/2014/main" id="{8B506E73-9DFD-4D6A-9F14-3B83A1C9AD49}"/>
              </a:ext>
            </a:extLst>
          </p:cNvPr>
          <p:cNvSpPr>
            <a:spLocks xmlns:a="http://schemas.openxmlformats.org/drawingml/2006/main" noGrp="1"/>
          </p:cNvSpPr>
          <p:nvPr/>
        </p:nvSpPr>
        <p:spPr>
          <a:xfrm xmlns:a="http://schemas.openxmlformats.org/drawingml/2006/main">
            <a:off x="7124700" y="5276850"/>
            <a:ext cx="361950" cy="361950"/>
          </a:xfrm>
          <a:prstGeom xmlns:a="http://schemas.openxmlformats.org/drawingml/2006/main" prst="diamond">
            <a:avLst/>
          </a:prstGeom>
          <a:solidFill xmlns:a="http://schemas.openxmlformats.org/drawingml/2006/main">
            <a:srgbClr val="8A6812"/>
          </a:solidFill>
          <a:ln xmlns:a="http://schemas.openxmlformats.org/drawingml/2006/main" w="19050">
            <a:solidFill>
              <a:srgbClr val="FFFFFF"/>
            </a:solidFill>
          </a:ln>
        </p:spPr>
      </p:sp>
      <p:sp>
        <p:nvSpPr>
          <p:cNvPr id="49" name="">
            <a:extLst xmlns:a="http://schemas.openxmlformats.org/drawingml/2006/main">
              <a:ext uri="{FF2B5EF4-FFF2-40B4-BE49-F238E27FC236}">
                <a16:creationId xmlns:a16="http://schemas.microsoft.com/office/drawing/2014/main" id="{70C1A284-5024-48AF-B940-EBCAC792B1A2}"/>
              </a:ext>
            </a:extLst>
          </p:cNvPr>
          <p:cNvSpPr>
            <a:spLocks xmlns:a="http://schemas.openxmlformats.org/drawingml/2006/main" noGrp="1"/>
          </p:cNvSpPr>
          <p:nvPr/>
        </p:nvSpPr>
        <p:spPr>
          <a:xfrm xmlns:a="http://schemas.openxmlformats.org/drawingml/2006/main">
            <a:off x="8620125" y="529590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A6812"/>
                </a:solidFill>
                <a:latin typeface="Segoe UI"/>
                <a:ea typeface="Segoe UI"/>
                <a:cs typeface="Segoe UI"/>
              </a:defRPr>
            </a:pPr>
            <a:r>
              <a:rPr sz="1125" b="1">
                <a:solidFill>
                  <a:srgbClr val="8A6812"/>
                </a:solidFill>
                <a:latin typeface="Segoe UI"/>
                <a:ea typeface="Segoe UI"/>
                <a:cs typeface="Segoe UI"/>
              </a:rPr>
              <a:t>nearest reachable setting</a:t>
            </a:r>
          </a:p>
        </p:txBody>
      </p:sp>
      <p:sp>
        <p:nvSpPr>
          <p:cNvPr id="50" name="">
            <a:extLst xmlns:a="http://schemas.openxmlformats.org/drawingml/2006/main">
              <a:ext uri="{FF2B5EF4-FFF2-40B4-BE49-F238E27FC236}">
                <a16:creationId xmlns:a16="http://schemas.microsoft.com/office/drawing/2014/main" id="{156D44E0-1B0B-463A-BF0F-07CAC6F8D15B}"/>
              </a:ext>
            </a:extLst>
          </p:cNvPr>
          <p:cNvSpPr>
            <a:spLocks xmlns:a="http://schemas.openxmlformats.org/drawingml/2006/main" noGrp="1"/>
          </p:cNvSpPr>
          <p:nvPr/>
        </p:nvSpPr>
        <p:spPr>
          <a:xfrm xmlns:a="http://schemas.openxmlformats.org/drawingml/2006/main">
            <a:off x="2952750" y="61912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5A6D73"/>
                </a:solidFill>
                <a:latin typeface="Segoe UI"/>
                <a:ea typeface="Segoe UI"/>
                <a:cs typeface="Segoe UI"/>
              </a:defRPr>
            </a:pPr>
            <a:r>
              <a:rPr sz="1125" b="0">
                <a:solidFill>
                  <a:srgbClr val="5A6D73"/>
                </a:solidFill>
                <a:latin typeface="Segoe UI"/>
                <a:ea typeface="Segoe UI"/>
                <a:cs typeface="Segoe UI"/>
              </a:rPr>
              <a:t>Conceptual view. The requested value is moved to the nearest reachable physical setting.</a:t>
            </a:r>
          </a:p>
        </p:txBody>
      </p:sp>
      <p:sp>
        <p:nvSpPr>
          <p:cNvPr id="51" name="">
            <a:extLst xmlns:a="http://schemas.openxmlformats.org/drawingml/2006/main">
              <a:ext uri="{FF2B5EF4-FFF2-40B4-BE49-F238E27FC236}">
                <a16:creationId xmlns:a16="http://schemas.microsoft.com/office/drawing/2014/main" id="{A0D0373C-731B-4A36-B227-0BBFEDC4FAE6}"/>
              </a:ext>
            </a:extLst>
          </p:cNvPr>
          <p:cNvSpPr>
            <a:spLocks xmlns:a="http://schemas.openxmlformats.org/drawingml/2006/main" noGrp="1"/>
          </p:cNvSpPr>
          <p:nvPr/>
        </p:nvSpPr>
        <p:spPr>
          <a:xfrm xmlns:a="http://schemas.openxmlformats.org/drawingml/2006/main">
            <a:off x="571500" y="6477000"/>
            <a:ext cx="1104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5A6D73"/>
                </a:solidFill>
                <a:latin typeface="Segoe UI"/>
                <a:ea typeface="Segoe UI"/>
                <a:cs typeface="Segoe UI"/>
              </a:defRPr>
            </a:pPr>
            <a:r>
              <a:rPr sz="900" b="0">
                <a:solidFill>
                  <a:srgbClr val="5A6D73"/>
                </a:solidFill>
                <a:latin typeface="Segoe UI"/>
                <a:ea typeface="Segoe UI"/>
                <a:cs typeface="Segoe UI"/>
              </a:rPr>
              <a:t>Neyer Gap Test V1.14</a:t>
            </a:r>
          </a:p>
        </p:txBody>
      </p:sp>
    </p:spTree>
    <p:extLst>
      <p:ext uri="{BB962C8B-B14F-4D97-AF65-F5344CB8AC3E}">
        <p14:creationId xmlns:p14="http://schemas.microsoft.com/office/powerpoint/2010/main" val="1938549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2026-10-05T05:43:55.3070000Z</dcterms:created>
  <dcterms:modified xsi:type="dcterms:W3CDTF">2026-10-05T05:43:55.3070000Z</dcterms:modified>
</coreProperties>
</file>