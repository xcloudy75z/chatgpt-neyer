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350f843e304604" /><Relationship Type="http://schemas.openxmlformats.org/officeDocument/2006/relationships/extended-properties" Target="/docProps/app.xml" Id="R61f60b3f6b3e4b57" /><Relationship Type="http://schemas.openxmlformats.org/officeDocument/2006/relationships/officeDocument" Target="/ppt/presentation.xml" Id="R72b62655d709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9b1894d626412c"/>
  </p:sldMasterIdLst>
  <p:notesMasterIdLst>
    <p:notesMasterId xmlns:r="http://schemas.openxmlformats.org/officeDocument/2006/relationships" r:id="R7bb2545a7d884fb5"/>
  </p:notesMasterIdLst>
  <p:sldIdLst>
    <p:sldId xmlns:r="http://schemas.openxmlformats.org/officeDocument/2006/relationships" id="256" r:id="Ra54cad17e97c4fb6"/>
    <p:sldId xmlns:r="http://schemas.openxmlformats.org/officeDocument/2006/relationships" id="257" r:id="Rb72a3fc5d8ad4611"/>
    <p:sldId xmlns:r="http://schemas.openxmlformats.org/officeDocument/2006/relationships" id="258" r:id="R829b378f6d11473d"/>
    <p:sldId xmlns:r="http://schemas.openxmlformats.org/officeDocument/2006/relationships" id="259" r:id="Rbb58a09a7a364e71"/>
    <p:sldId xmlns:r="http://schemas.openxmlformats.org/officeDocument/2006/relationships" id="260" r:id="R8262afe492f74049"/>
    <p:sldId xmlns:r="http://schemas.openxmlformats.org/officeDocument/2006/relationships" id="261" r:id="R0fe2a9a7fc8848c5"/>
    <p:sldId xmlns:r="http://schemas.openxmlformats.org/officeDocument/2006/relationships" id="262" r:id="R7f98eee19c8946f5"/>
    <p:sldId xmlns:r="http://schemas.openxmlformats.org/officeDocument/2006/relationships" id="263" r:id="Rd1e8fdb8a7e744c1"/>
    <p:sldId xmlns:r="http://schemas.openxmlformats.org/officeDocument/2006/relationships" id="264" r:id="R84626b49660e4b80"/>
    <p:sldId xmlns:r="http://schemas.openxmlformats.org/officeDocument/2006/relationships" id="265" r:id="Re08c5b5e86544301"/>
    <p:sldId xmlns:r="http://schemas.openxmlformats.org/officeDocument/2006/relationships" id="266" r:id="R09711567f4b3409e"/>
    <p:sldId xmlns:r="http://schemas.openxmlformats.org/officeDocument/2006/relationships" id="267" r:id="Rfdaea3830a884d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4dee1ac824645" /><Relationship Type="http://schemas.openxmlformats.org/officeDocument/2006/relationships/slideMaster" Target="/ppt/slideMasters/slideMaster1.xml" Id="R719b1894d626412c" /><Relationship Type="http://schemas.openxmlformats.org/officeDocument/2006/relationships/notesMaster" Target="/ppt/notesMasters/notesMaster1.xml" Id="R7bb2545a7d884fb5" /><Relationship Type="http://schemas.openxmlformats.org/officeDocument/2006/relationships/presProps" Target="/ppt/presProps.xml" Id="R10d8cfb40a8340d9" /><Relationship Type="http://schemas.openxmlformats.org/officeDocument/2006/relationships/tableStyles" Target="/ppt/tableStyles.xml" Id="R8e85035d817c496e" /><Relationship Type="http://schemas.openxmlformats.org/officeDocument/2006/relationships/slide" Target="/ppt/slides/slide1.xml" Id="Ra54cad17e97c4fb6" /><Relationship Type="http://schemas.openxmlformats.org/officeDocument/2006/relationships/slide" Target="/ppt/slides/slide2.xml" Id="Rb72a3fc5d8ad4611" /><Relationship Type="http://schemas.openxmlformats.org/officeDocument/2006/relationships/slide" Target="/ppt/slides/slide3.xml" Id="R829b378f6d11473d" /><Relationship Type="http://schemas.openxmlformats.org/officeDocument/2006/relationships/slide" Target="/ppt/slides/slide4.xml" Id="Rbb58a09a7a364e71" /><Relationship Type="http://schemas.openxmlformats.org/officeDocument/2006/relationships/slide" Target="/ppt/slides/slide5.xml" Id="R8262afe492f74049" /><Relationship Type="http://schemas.openxmlformats.org/officeDocument/2006/relationships/slide" Target="/ppt/slides/slide6.xml" Id="R0fe2a9a7fc8848c5" /><Relationship Type="http://schemas.openxmlformats.org/officeDocument/2006/relationships/slide" Target="/ppt/slides/slide7.xml" Id="R7f98eee19c8946f5" /><Relationship Type="http://schemas.openxmlformats.org/officeDocument/2006/relationships/slide" Target="/ppt/slides/slide8.xml" Id="Rd1e8fdb8a7e744c1" /><Relationship Type="http://schemas.openxmlformats.org/officeDocument/2006/relationships/slide" Target="/ppt/slides/slide9.xml" Id="R84626b49660e4b80" /><Relationship Type="http://schemas.openxmlformats.org/officeDocument/2006/relationships/slide" Target="/ppt/slides/slide10.xml" Id="Re08c5b5e86544301" /><Relationship Type="http://schemas.openxmlformats.org/officeDocument/2006/relationships/slide" Target="/ppt/slides/slide11.xml" Id="R09711567f4b3409e" /><Relationship Type="http://schemas.openxmlformats.org/officeDocument/2006/relationships/slide" Target="/ppt/slides/slide12.xml" Id="Rfdaea3830a884d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789ac354541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4cd1f6f2048b2" /><Relationship Type="http://schemas.openxmlformats.org/officeDocument/2006/relationships/notesMaster" Target="/ppt/notesMasters/notesMaster1.xml" Id="Rc82eb7c446944a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46e6d7a16e46e8" /><Relationship Type="http://schemas.openxmlformats.org/officeDocument/2006/relationships/notesMaster" Target="/ppt/notesMasters/notesMaster1.xml" Id="R0989aed052844d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39c3f6b8bd48ff" /><Relationship Type="http://schemas.openxmlformats.org/officeDocument/2006/relationships/notesMaster" Target="/ppt/notesMasters/notesMaster1.xml" Id="Rda5136e68e4d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e2aba560f64af0" /><Relationship Type="http://schemas.openxmlformats.org/officeDocument/2006/relationships/notesMaster" Target="/ppt/notesMasters/notesMaster1.xml" Id="R6fc27d9ace3744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0a85f8f5d64998" /><Relationship Type="http://schemas.openxmlformats.org/officeDocument/2006/relationships/notesMaster" Target="/ppt/notesMasters/notesMaster1.xml" Id="Rf72da3ef396840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aa0054a2644fa7" /><Relationship Type="http://schemas.openxmlformats.org/officeDocument/2006/relationships/notesMaster" Target="/ppt/notesMasters/notesMaster1.xml" Id="R763fc12911dc45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556772c9d4fc2" /><Relationship Type="http://schemas.openxmlformats.org/officeDocument/2006/relationships/notesMaster" Target="/ppt/notesMasters/notesMaster1.xml" Id="R84d1ce2416d547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c4e32dd526491f" /><Relationship Type="http://schemas.openxmlformats.org/officeDocument/2006/relationships/notesMaster" Target="/ppt/notesMasters/notesMaster1.xml" Id="Rc36342c70e3a4e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901cbe430d4cc3" /><Relationship Type="http://schemas.openxmlformats.org/officeDocument/2006/relationships/notesMaster" Target="/ppt/notesMasters/notesMaster1.xml" Id="R97f44783e8df40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bbdb3b89364141" /><Relationship Type="http://schemas.openxmlformats.org/officeDocument/2006/relationships/notesMaster" Target="/ppt/notesMasters/notesMaster1.xml" Id="R63846aa1149c4d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edfce969414622" /><Relationship Type="http://schemas.openxmlformats.org/officeDocument/2006/relationships/notesMaster" Target="/ppt/notesMasters/notesMaster1.xml" Id="R5bcaabcc5f834d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8133d0fe974744" /><Relationship Type="http://schemas.openxmlformats.org/officeDocument/2006/relationships/notesMaster" Target="/ppt/notesMasters/notesMaster1.xml" Id="R4ce6d05350de46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002b9c21c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91a1c8f95649ba" /><Relationship Type="http://schemas.openxmlformats.org/officeDocument/2006/relationships/slideLayout" Target="/ppt/slideLayouts/slideLayout1.xml" Id="Rd4b57ddd6fac41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57ddd6fac41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fd30d9df144a6" /><Relationship Type="http://schemas.openxmlformats.org/officeDocument/2006/relationships/notesSlide" Target="/ppt/notesSlides/notesSlide1.xml" Id="R33b03081f19d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0788d1bb04165" /><Relationship Type="http://schemas.openxmlformats.org/officeDocument/2006/relationships/image" Target="/ppt/media/image.png" Id="R5c26398be1b6448e" /><Relationship Type="http://schemas.openxmlformats.org/officeDocument/2006/relationships/notesSlide" Target="/ppt/notesSlides/notesSlide2.xml" Id="R46757663a46f4e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f282baeb8470f" /><Relationship Type="http://schemas.openxmlformats.org/officeDocument/2006/relationships/notesSlide" Target="/ppt/notesSlides/notesSlide3.xml" Id="Re134440a03a744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9e908e9e642d7" /><Relationship Type="http://schemas.openxmlformats.org/officeDocument/2006/relationships/notesSlide" Target="/ppt/notesSlides/notesSlide4.xml" Id="R44563aa1e8244d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1809764f4471a" /><Relationship Type="http://schemas.openxmlformats.org/officeDocument/2006/relationships/notesSlide" Target="/ppt/notesSlides/notesSlide5.xml" Id="R00e25c91215b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2d579b55c479d" /><Relationship Type="http://schemas.openxmlformats.org/officeDocument/2006/relationships/chart" Target="/ppt/slides/charts/chart1.xml" Id="R0e111467753d4656" /><Relationship Type="http://schemas.openxmlformats.org/officeDocument/2006/relationships/notesSlide" Target="/ppt/notesSlides/notesSlide6.xml" Id="R4bcfa303a23e49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7a2919cf44696" /><Relationship Type="http://schemas.openxmlformats.org/officeDocument/2006/relationships/chart" Target="/ppt/slides/charts/chart2.xml" Id="R69421a3fd5044181" /><Relationship Type="http://schemas.openxmlformats.org/officeDocument/2006/relationships/notesSlide" Target="/ppt/notesSlides/notesSlide7.xml" Id="R3c3eb8af364d44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0a96700354f11" /><Relationship Type="http://schemas.openxmlformats.org/officeDocument/2006/relationships/image" Target="/ppt/media/image2.png" Id="R9bbabdbaeddd427e" /><Relationship Type="http://schemas.openxmlformats.org/officeDocument/2006/relationships/notesSlide" Target="/ppt/notesSlides/notesSlide8.xml" Id="R61b89ad6b03644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a5c332b7f4426" /><Relationship Type="http://schemas.openxmlformats.org/officeDocument/2006/relationships/image" Target="/ppt/media/image3.png" Id="R710358d5fe754b96" /><Relationship Type="http://schemas.openxmlformats.org/officeDocument/2006/relationships/image" Target="/ppt/media/image4.png" Id="R4f3d8f29db994fa6" /><Relationship Type="http://schemas.openxmlformats.org/officeDocument/2006/relationships/image" Target="/ppt/media/image5.png" Id="Rf9152c1ed09e4051" /><Relationship Type="http://schemas.openxmlformats.org/officeDocument/2006/relationships/notesSlide" Target="/ppt/notesSlides/notesSlide9.xml" Id="R27df5a49d7cc4b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c29b7c69340c4" /><Relationship Type="http://schemas.openxmlformats.org/officeDocument/2006/relationships/notesSlide" Target="/ppt/notesSlides/notesSlide10.xml" Id="R5962a67d6b2e48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8a22863bc4506" /><Relationship Type="http://schemas.openxmlformats.org/officeDocument/2006/relationships/notesSlide" Target="/ppt/notesSlides/notesSlide11.xml" Id="Rbff6bb8b2a2e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e624a94b54bcf" /><Relationship Type="http://schemas.openxmlformats.org/officeDocument/2006/relationships/notesSlide" Target="/ppt/notesSlides/notesSlide12.xml" Id="Racb57e33f62b44b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True width 0.10 mm</c:v>
          </c:tx>
          <c:spPr>
            <a:ln xmlns:a="http://schemas.openxmlformats.org/drawingml/2006/main" w="38100">
              <a:solidFill>
                <a:srgbClr val="D98A2B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D98A2B"/>
              </a:solidFill>
            </c:spPr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0.10</c:v>
              </c:pt>
              <c:pt idx="3">
                <c:v>0.25</c:v>
              </c:pt>
            </c:numLit>
          </c:cat>
          <c:val>
            <c:numLit>
              <c:formatCode>0%</c:formatCode>
              <c:ptCount val="4"/>
              <c:pt idx="0">
                <c:v>0.835</c:v>
              </c:pt>
              <c:pt idx="1">
                <c:v>0.655</c:v>
              </c:pt>
              <c:pt idx="2">
                <c:v>0.46</c:v>
              </c:pt>
              <c:pt idx="3">
                <c:v>0.035</c:v>
              </c:pt>
            </c:numLit>
          </c:val>
        </c:ser>
        <c:ser>
          <c:idx val="1"/>
          <c:order val="1"/>
          <c:tx>
            <c:v>True width 0.20 mm</c:v>
          </c:tx>
          <c:spPr>
            <a:ln xmlns:a="http://schemas.openxmlformats.org/drawingml/2006/main" w="28575">
              <a:solidFill>
                <a:srgbClr val="B9A047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9A047"/>
              </a:solidFill>
            </c:spPr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0.10</c:v>
              </c:pt>
              <c:pt idx="3">
                <c:v>0.25</c:v>
              </c:pt>
            </c:numLit>
          </c:cat>
          <c:val>
            <c:numLit>
              <c:formatCode>0%</c:formatCode>
              <c:ptCount val="4"/>
              <c:pt idx="0">
                <c:v>0.925</c:v>
              </c:pt>
              <c:pt idx="1">
                <c:v>0.865</c:v>
              </c:pt>
              <c:pt idx="2">
                <c:v>0.79</c:v>
              </c:pt>
              <c:pt idx="3">
                <c:v>0.355</c:v>
              </c:pt>
            </c:numLit>
          </c:val>
        </c:ser>
        <c:ser>
          <c:idx val="2"/>
          <c:order val="2"/>
          <c:tx>
            <c:v>True width 0.50 mm</c:v>
          </c:tx>
          <c:spPr>
            <a:ln xmlns:a="http://schemas.openxmlformats.org/drawingml/2006/main" w="28575">
              <a:solidFill>
                <a:srgbClr val="26739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6739B"/>
              </a:solidFill>
            </c:spPr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0.10</c:v>
              </c:pt>
              <c:pt idx="3">
                <c:v>0.25</c:v>
              </c:pt>
            </c:numLit>
          </c:cat>
          <c:val>
            <c:numLit>
              <c:formatCode>0%</c:formatCode>
              <c:ptCount val="4"/>
              <c:pt idx="0">
                <c:v>1</c:v>
              </c:pt>
              <c:pt idx="1">
                <c:v>0.985</c:v>
              </c:pt>
              <c:pt idx="2">
                <c:v>0.98</c:v>
              </c:pt>
              <c:pt idx="3">
                <c:v>0.84</c:v>
              </c:pt>
            </c:numLit>
          </c:val>
        </c:ser>
        <c:ser>
          <c:idx val="3"/>
          <c:order val="3"/>
          <c:tx>
            <c:v>True width 1.00 mm</c:v>
          </c:tx>
          <c:spPr>
            <a:ln xmlns:a="http://schemas.openxmlformats.org/drawingml/2006/main" w="38100">
              <a:solidFill>
                <a:srgbClr val="23837B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3837B"/>
              </a:solidFill>
            </c:spPr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0.10</c:v>
              </c:pt>
              <c:pt idx="3">
                <c:v>0.25</c:v>
              </c:pt>
            </c:numLit>
          </c:cat>
          <c:val>
            <c:numLit>
              <c:formatCode>0%</c:formatCode>
              <c:ptCount val="4"/>
              <c:pt idx="0">
                <c:v>0.995</c:v>
              </c:pt>
              <c:pt idx="1">
                <c:v>0.99</c:v>
              </c:pt>
              <c:pt idx="2">
                <c:v>0.99</c:v>
              </c:pt>
              <c:pt idx="3">
                <c:v>0.925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Usable gap step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1D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Overlap within 20 tests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BFCFD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20-test budget</c:v>
          </c:tx>
          <c:spPr>
            <a:solidFill xmlns:a="http://schemas.openxmlformats.org/drawingml/2006/main">
              <a:srgbClr val="26739B"/>
            </a:solidFill>
          </c:spPr>
          <c:cat>
            <c:strLit>
              <c:ptCount val="3"/>
              <c:pt idx="0">
                <c:v>No floor</c:v>
              </c:pt>
              <c:pt idx="1">
                <c:v>1 × resolution</c:v>
              </c:pt>
              <c:pt idx="2">
                <c:v>2 × resolution</c:v>
              </c:pt>
            </c:strLit>
          </c:cat>
          <c:val>
            <c:numLit>
              <c:formatCode>0.00%</c:formatCode>
              <c:ptCount val="3"/>
              <c:pt idx="0">
                <c:v>0.9402314814814815</c:v>
              </c:pt>
              <c:pt idx="1">
                <c:v>0.9336111111111114</c:v>
              </c:pt>
              <c:pt idx="2">
                <c:v>0.9353703703703705</c:v>
              </c:pt>
            </c:numLit>
          </c:val>
        </c:ser>
        <c:ser>
          <c:idx val="1"/>
          <c:order val="1"/>
          <c:tx>
            <c:v>50-test budget</c:v>
          </c:tx>
          <c:spPr>
            <a:solidFill xmlns:a="http://schemas.openxmlformats.org/drawingml/2006/main">
              <a:srgbClr val="23837B"/>
            </a:solidFill>
          </c:spPr>
          <c:cat>
            <c:strLit>
              <c:ptCount val="3"/>
              <c:pt idx="0">
                <c:v>No floor</c:v>
              </c:pt>
              <c:pt idx="1">
                <c:v>1 × resolution</c:v>
              </c:pt>
              <c:pt idx="2">
                <c:v>2 × resolution</c:v>
              </c:pt>
            </c:strLit>
          </c:cat>
          <c:val>
            <c:numLit>
              <c:formatCode>0.00%</c:formatCode>
              <c:ptCount val="3"/>
              <c:pt idx="0">
                <c:v>0.9784259259259259</c:v>
              </c:pt>
              <c:pt idx="1">
                <c:v>0.9857407407407405</c:v>
              </c:pt>
              <c:pt idx="2">
                <c:v>0.9970370370370369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738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1D7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BFCFD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B8BF2-D9B7-4D33-B5A9-8A70AFF1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Neyer Gap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67323-D5D2-48F5-AFE2-D0AA4FC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MATLAB implementation audit and V1.9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BC00E-92BB-4463-96D6-0701098F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476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D63D1-5603-46A9-8FCB-0CF27F7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714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3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A9C53-6CC6-47C8-BC27-8B81BB44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476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3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A25D8-FA40-4509-8988-CEF82500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Decreasing-interaction gap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E46D7-AEAA-41D8-8DBD-DB37CF1E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Standalone MATLAB R2022b Live Script</a:t>
            </a:r>
          </a:p>
          <a:p xmlns:a="http://schemas.openxmlformats.org/drawingml/2006/main">
            <a:pPr algn="l">
              <a:defRPr sz="150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Audit • physical workflow • simulation evidence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32FFB-DA55-4D6C-8ADA-CBE26B9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1D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BD1DC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73236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85FAD-D6EC-4C84-9224-AC2C1DF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What the method estimates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5D064-862B-4D89-AF44-59D1BB7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FF9F0-F64B-4D31-A976-EA24ED0C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6398be1b6448e"/>
          <a:stretch xmlns:a="http://schemas.openxmlformats.org/drawingml/2006/main"/>
        </p:blipFill>
        <p:spPr>
          <a:xfrm xmlns:a="http://schemas.openxmlformats.org/drawingml/2006/main">
            <a:off x="590550" y="1483265"/>
            <a:ext cx="6191250" cy="421531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AE90B-07F2-491E-BF84-4F0BF6D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43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673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6739B"/>
                </a:solidFill>
                <a:latin typeface="Aptos"/>
                <a:ea typeface="Aptos"/>
                <a:cs typeface="Aptos"/>
              </a:rPr>
              <a:t>Middle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5AB7-E634-4C17-9114-2DAE3D41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The gap with about 50% interaction chance.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E30EB-D624-444D-B1E6-1F9BA1DF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8A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8A2B"/>
                </a:solidFill>
                <a:latin typeface="Aptos"/>
                <a:ea typeface="Aptos"/>
                <a:cs typeface="Aptos"/>
              </a:rPr>
              <a:t>Transition width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9FEC0-4703-4F4A-82CD-730607F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How quickly the material response changes around the middle.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5C131-F00C-49FE-AADF-9F0980EF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A2B"/>
                </a:solidFill>
                <a:latin typeface="Aptos"/>
                <a:ea typeface="Aptos"/>
                <a:cs typeface="Aptos"/>
              </a:rPr>
              <a:t>Smaller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433FB-6A71-4D36-A946-141CC5F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interaction likely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933A4-3FF8-4D33-87A7-7300644B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383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837B"/>
                </a:solidFill>
                <a:latin typeface="Aptos"/>
                <a:ea typeface="Aptos"/>
                <a:cs typeface="Aptos"/>
              </a:rPr>
              <a:t>Larger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01349-647E-4E5E-AB21-9AB2ADD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14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interaction unlikely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C25BB-F0F9-42F4-86E5-5B214FB7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10200"/>
            <a:ext cx="3714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EF727-8328-4027-8236-1CF97796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102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8994-880F-4915-9D22-2939E79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1020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37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EFF4A-4F6E-4E04-AF49-01B27AC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Neyer Gap Test v1.9</a:t>
            </a:r>
          </a:p>
        </p:txBody>
      </p:sp>
    </p:spTree>
    <p:extLst>
      <p:ext uri="{BB962C8B-B14F-4D97-AF65-F5344CB8AC3E}">
        <p14:creationId xmlns:p14="http://schemas.microsoft.com/office/powerpoint/2010/main" val="1993962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2F785-6D07-4683-8B2D-58063D58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V1.8 audit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956BF-7266-45BA-873D-EAF22ACF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EA544-70FD-498C-9115-CD68C22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8702"/>
                <a:gridCol w="3957403"/>
                <a:gridCol w="5036695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Area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V1.8 did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Audit result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Stage 1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Simplified outward doubling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Reference table matched, general paper rule did not</a:t>
                      </a:r>
                    </a:p>
                  </a:txBody>
                  <a:tcPr marL="85725" marR="85725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Stage 2 transition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Used 1.5 × guessed sigma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Historical reconstruction, not Neyer's rule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0.8 shrink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Setting existed but stayed inactive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Repeated Stage-2 behavior did not match</a:t>
                      </a:r>
                    </a:p>
                  </a:txBody>
                  <a:tcPr marL="85725" marR="85725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MLE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Probit likelihood with positive sigma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Core method matched; numerical depth remains a limitation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D-optimal point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Maximised information determinant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Core rule matched; grid and fence are engineering choices</a:t>
                      </a:r>
                    </a:p>
                  </a:txBody>
                  <a:tcPr marL="85725" marR="85725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Rounding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Two decimal places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Reproduced Table 1 but did not describe the physical tool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Stopping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Fixed budget, no estimate without overlap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Sound; repeated boundary clamping needed a safe pause</a:t>
                      </a:r>
                    </a:p>
                  </a:txBody>
                  <a:tcPr marL="85725" marR="85725" marT="57150" marB="5715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86097-449A-4F4C-9810-FF8153C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Original V1.8 remains unchanged and hash-matched</a:t>
            </a:r>
          </a:p>
        </p:txBody>
      </p:sp>
    </p:spTree>
    <p:extLst>
      <p:ext uri="{BB962C8B-B14F-4D97-AF65-F5344CB8AC3E}">
        <p14:creationId xmlns:p14="http://schemas.microsoft.com/office/powerpoint/2010/main" val="774516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C8D47-853D-4154-852E-B8620492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The Stage 2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8C272-7CD5-445B-879C-DB8DC59F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9AC52-6BB1-4293-9787-07122132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68784-E6BE-4185-9197-C3CF27B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8A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8A2B"/>
                </a:solidFill>
                <a:latin typeface="Aptos"/>
                <a:ea typeface="Aptos"/>
                <a:cs typeface="Aptos"/>
              </a:rPr>
              <a:t>1.5 × sigma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ABEB5-E3BD-458B-A858-414C5D3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This threshold was chosen while reconstructing Table 1. The paper uses one guessed sigma.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443DE-2901-4670-9B14-006D517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3837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3837B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B4F22-0CDE-490B-97CB-9D0124C6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After each Part-2 test, multiply the working sigma by 0.8.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81625" y="1562100"/>
          <a:ext xmlns:a="http://schemas.openxmlformats.org/drawingml/2006/main" cx="6096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1120"/>
                <a:gridCol w="2072640"/>
                <a:gridCol w="2682240"/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Next action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Exit condition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Part 1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Bisect the response bracket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Bracket width reaches 1.0 guessed sigma</a:t>
                      </a:r>
                    </a:p>
                  </a:txBody>
                  <a:tcPr marL="85725" marR="85725" marT="57150" marB="5715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Part 2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One-way D-optimal selection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Yes and No results strictly overlap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After each Part-2 test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Working sigma × 0.8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Never return to bisection</a:t>
                      </a:r>
                    </a:p>
                  </a:txBody>
                  <a:tcPr marL="85725" marR="85725" marT="57150" marB="5715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F8724-AAA3-490D-9169-AEDEA458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482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Table 1 hid the problem because its first D-optimal test created overlap immediately.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F1942-97D0-47B2-A78D-30C4C4B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Neyer Gap Test v1.9</a:t>
            </a:r>
          </a:p>
        </p:txBody>
      </p:sp>
    </p:spTree>
    <p:extLst>
      <p:ext uri="{BB962C8B-B14F-4D97-AF65-F5344CB8AC3E}">
        <p14:creationId xmlns:p14="http://schemas.microsoft.com/office/powerpoint/2010/main" val="718063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A4E9C-C8BC-480A-BD26-3B3C6AA6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Physical gap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938D6-77F0-4360-A54E-2A09D6EB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190D2-A9FC-4DC9-8749-BA22AC8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7558"/>
                <a:gridCol w="4235116"/>
                <a:gridCol w="462012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Gap value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Plain meaning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Use in V1.9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Internal target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Mathematical best next point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Saved at full precision</a:t>
                      </a:r>
                    </a:p>
                  </a:txBody>
                  <a:tcPr marL="85725" marR="85725" marT="57150" marB="5715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Build request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Useful physical setting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Shown with exactly two decimals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Measured mean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Average of 4 or 5 readings on this new build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Used as the statistical gap</a:t>
                      </a:r>
                    </a:p>
                  </a:txBody>
                  <a:tcPr marL="85725" marR="85725" marT="57150" marB="5715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54BE0-6E58-404A-A9E5-A6221D9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Physical control and material thickness stay separate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1C3A6-004B-482E-953A-32139119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Foil is approximately 0.015 mm thick. Printed 0.50 mm spacers have measured about 0.49 to 0.52 mm. V1.9 therefore uses a provisional 0.05 mm usable resolution and a 0.10 mm Stage-2 planning floor. Every final assembly is measured before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D75D0-45B5-4E2D-8101-D807862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Neyer Gap Test v1.9</a:t>
            </a:r>
          </a:p>
        </p:txBody>
      </p:sp>
    </p:spTree>
    <p:extLst>
      <p:ext uri="{BB962C8B-B14F-4D97-AF65-F5344CB8AC3E}">
        <p14:creationId xmlns:p14="http://schemas.microsoft.com/office/powerpoint/2010/main" val="1850737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89086-F9DD-4F8B-8B12-148B37D3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Usable resolution changes Stage 2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135E0-B9B2-40E4-B90D-A46D5D02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FD812-2818-4CB7-B528-9B3C7D3F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7810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111467753d46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2C671-D359-4459-BC71-A1D2FB49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714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0.10 mm is workable when the true transition is broad. It becomes restrictive when the transition itself is near 0.10 mm.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C22A4-32D9-44A8-94AC-D74DC44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32 settings × 200 paired repetitions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0FBF9-FF07-4656-9FB8-4C97B3AB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Source: increment-study-results.csv</a:t>
            </a:r>
          </a:p>
        </p:txBody>
      </p:sp>
    </p:spTree>
    <p:extLst>
      <p:ext uri="{BB962C8B-B14F-4D97-AF65-F5344CB8AC3E}">
        <p14:creationId xmlns:p14="http://schemas.microsoft.com/office/powerpoint/2010/main" val="997566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1AFAF-A627-44DF-81E1-2F491527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Corrected physical simulation: 129,600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4503E-7B24-48CF-A7AC-0341ADB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9732E-6167-480F-9CCA-1BCEB98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421a3fd504418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D7242-4D68-4018-8BD2-20AAF14F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19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3837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23837B"/>
                </a:solidFill>
                <a:latin typeface="Aptos"/>
                <a:ea typeface="Aptos"/>
                <a:cs typeface="Aptos"/>
              </a:rPr>
              <a:t>2 × resolution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7A92-6280-4FEE-B097-F5CBD6FD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Chosen as the Stage-2 working-sigma floor.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F97C4-B971-4297-90F0-C64FC2F1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At 50 tests: 99.70% actual overlap, 0.009% false overlap.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E1906-2371-437A-B0CD-335A209C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These corrected values replace the earlier simulation, which used the requested gap—not the actual built gap—to decide the outcome.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3C274-08C2-4E56-AEFC-AF0073CA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432 scenarios × 300 repetitions · outcome uses actual built gap</a:t>
            </a:r>
          </a:p>
        </p:txBody>
      </p:sp>
    </p:spTree>
    <p:extLst>
      <p:ext uri="{BB962C8B-B14F-4D97-AF65-F5344CB8AC3E}">
        <p14:creationId xmlns:p14="http://schemas.microsoft.com/office/powerpoint/2010/main" val="737459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302E4-C974-4FDE-92E8-7BE6E185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Boundaries and safe stopping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38B3A-E021-4A34-BC79-68BB362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21519-151C-41D0-A2AA-FE0EC2B6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abdbaeddd427e"/>
          <a:stretch xmlns:a="http://schemas.openxmlformats.org/drawingml/2006/main"/>
        </p:blipFill>
        <p:spPr>
          <a:xfrm xmlns:a="http://schemas.openxmlformats.org/drawingml/2006/main">
            <a:off x="6572250" y="1676678"/>
            <a:ext cx="4762500" cy="32188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A9D4-6737-4C1D-9C36-AE0D1C32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739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6739B"/>
                </a:solidFill>
                <a:latin typeface="Aptos"/>
                <a:ea typeface="Aptos"/>
                <a:cs typeface="Aptos"/>
              </a:rPr>
              <a:t>Default study range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92489-230F-408D-9097-8491E033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0 mm to 10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F9AAC-3534-47F9-BB5C-F109C597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8A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8A2B"/>
                </a:solidFill>
                <a:latin typeface="Aptos"/>
                <a:ea typeface="Aptos"/>
                <a:cs typeface="Aptos"/>
              </a:rPr>
              <a:t>Unexpected result at a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A7B1C-AEE6-444F-8C68-4291737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Repeat that same boundary once for confirmation.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69E53-DFCA-4A14-8132-B99775E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37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3837B"/>
                </a:solidFill>
                <a:latin typeface="Aptos"/>
                <a:ea typeface="Aptos"/>
                <a:cs typeface="Aptos"/>
              </a:rPr>
              <a:t>Same contradiction twice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21ABA-492B-482B-9A0C-514F0D5F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Pause for review and preserve the data. The software does not label the whole experiment a failure.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EDC11-2129-478E-9ECC-F8DDB3B7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Neyer Gap Test v1.9</a:t>
            </a:r>
          </a:p>
        </p:txBody>
      </p:sp>
    </p:spTree>
    <p:extLst>
      <p:ext uri="{BB962C8B-B14F-4D97-AF65-F5344CB8AC3E}">
        <p14:creationId xmlns:p14="http://schemas.microsoft.com/office/powerpoint/2010/main" val="331645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D1CC3-87E4-4FE1-8256-25C5599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Operator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702A0-496E-42B2-BC2D-6929A9D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EECB6-BDAE-4488-A45C-8A7D6FDA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358d5fe754b96"/>
          <a:stretch xmlns:a="http://schemas.openxmlformats.org/drawingml/2006/main"/>
        </p:blipFill>
        <p:spPr>
          <a:xfrm xmlns:a="http://schemas.openxmlformats.org/drawingml/2006/main">
            <a:off x="609600" y="1854994"/>
            <a:ext cx="3286125" cy="2957513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d8f29db994fa6"/>
          <a:stretch xmlns:a="http://schemas.openxmlformats.org/drawingml/2006/main"/>
        </p:blipFill>
        <p:spPr>
          <a:xfrm xmlns:a="http://schemas.openxmlformats.org/drawingml/2006/main">
            <a:off x="4333875" y="1737632"/>
            <a:ext cx="3286125" cy="3192236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52c1ed09e4051"/>
          <a:stretch xmlns:a="http://schemas.openxmlformats.org/drawingml/2006/main"/>
        </p:blipFill>
        <p:spPr>
          <a:xfrm xmlns:a="http://schemas.openxmlformats.org/drawingml/2006/main">
            <a:off x="8058150" y="1918891"/>
            <a:ext cx="3286125" cy="28297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C159D-2C19-4358-AF19-D122A866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Main 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DB445-F3BE-4A05-A55A-F2FB597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Physical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F2A54-0349-46AB-9193-785C831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292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Operating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44719-E6AD-4ADF-B2A6-4DFF00E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Neyer Gap Test v1.9</a:t>
            </a:r>
          </a:p>
        </p:txBody>
      </p:sp>
    </p:spTree>
    <p:extLst>
      <p:ext uri="{BB962C8B-B14F-4D97-AF65-F5344CB8AC3E}">
        <p14:creationId xmlns:p14="http://schemas.microsoft.com/office/powerpoint/2010/main" val="1882892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C6150-E060-4BD1-A91B-F589E875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Running V1.9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C0D46-FE0F-4B52-AA9D-68EB06AA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ABFD6-0E33-4251-9856-B8DE68DD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10875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3864429"/>
                <a:gridCol w="6279696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85725" marR="85725" marT="57150" marB="57150">
                    <a:solidFill>
                      <a:srgbClr val="2673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Open and run the Live Script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Neyer_Gap_Test_v1_9.mlx in MATLAB R2022b</a:t>
                      </a:r>
                    </a:p>
                  </a:txBody>
                  <a:tcPr marL="85725" marR="85725" marT="57150" marB="57150"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85725" marR="85725" marT="57150" marB="57150">
                    <a:solidFill>
                      <a:srgbClr val="2383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Verify the build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Run a Demo should return 5.3922 mm and 1.0412 mm</a:t>
                      </a:r>
                    </a:p>
                  </a:txBody>
                  <a:tcPr marL="85725" marR="85725" marT="57150" marB="57150"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85725" marR="85725" marT="57150" marB="57150">
                    <a:solidFill>
                      <a:srgbClr val="2673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Enter the study setup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Use 0–10 mm, a provisional 0.05 mm usable step, and 0.015 mm foil thickness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85725" marR="85725" marT="57150" marB="57150">
                    <a:solidFill>
                      <a:srgbClr val="2383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Build and measure each new spacer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Enter four or five readings before the destructive test</a:t>
                      </a:r>
                    </a:p>
                  </a:txBody>
                  <a:tcPr marL="85725" marR="85725" marT="57150" marB="57150"/>
                </a:tc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85725" marR="85725" marT="57150" marB="57150">
                    <a:solidFill>
                      <a:srgbClr val="2673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Record the outcome and continue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Choose Interaction or No interaction, then save the final results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FB1E0-C093-4C68-8744-7E159FBA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No executable, helper folder, addpath, internet connection, or add-on package required</a:t>
            </a:r>
          </a:p>
        </p:txBody>
      </p:sp>
    </p:spTree>
    <p:extLst>
      <p:ext uri="{BB962C8B-B14F-4D97-AF65-F5344CB8AC3E}">
        <p14:creationId xmlns:p14="http://schemas.microsoft.com/office/powerpoint/2010/main" val="1602006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E92D9-0383-487A-9DD9-2D713CB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738"/>
                </a:solidFill>
                <a:latin typeface="Aptos"/>
                <a:ea typeface="Aptos"/>
                <a:cs typeface="Aptos"/>
              </a:rPr>
              <a:t>Saving result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3479B-0AF0-496C-8178-06F790CC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09A98-75E4-4001-BD85-0689936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7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8B123-2183-4F33-91D3-BBF39519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B57"/>
                </a:solidFill>
                <a:latin typeface="Aptos"/>
                <a:ea typeface="Aptos"/>
                <a:cs typeface="Aptos"/>
              </a:rPr>
              <a:t>The operator chooses the folder and base name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0810875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9502"/>
                <a:gridCol w="4430686"/>
                <a:gridCol w="4430686"/>
              </a:tblGrid>
              <a:tr h="730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Complete path shown before saving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Contents</a:t>
                      </a:r>
                    </a:p>
                  </a:txBody>
                  <a:tcPr marL="85725" marR="85725" marT="57150" marB="57150">
                    <a:solidFill>
                      <a:srgbClr val="173B57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CSV data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&lt;selected folder&gt;\&lt;chosen name&gt;.csv</a:t>
                      </a:r>
                    </a:p>
                  </a:txBody>
                  <a:tcPr marL="85725" marR="85725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Internal target, build request, every reading, measured mean, warning, and outcome</a:t>
                      </a:r>
                    </a:p>
                  </a:txBody>
                  <a:tcPr marL="85725" marR="85725" marT="57150" marB="57150"/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HTML result report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&lt;selected folder&gt;\&lt;chosen name&gt;.html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8"/>
                          </a:solidFill>
                          <a:latin typeface="Aptos"/>
                          <a:ea typeface="Aptos"/>
                          <a:cs typeface="Aptos"/>
                        </a:rPr>
                        <a:t>Self-contained summary, estimates, and chart</a:t>
                      </a:r>
                    </a:p>
                  </a:txBody>
                  <a:tcPr marL="85725" marR="85725" marT="57150" marB="5715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10003-C5F2-499E-B46F-6024D1D7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8A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8A2B"/>
                </a:solidFill>
                <a:latin typeface="Aptos"/>
                <a:ea typeface="Aptos"/>
                <a:cs typeface="Aptos"/>
              </a:rPr>
              <a:t>No silent overwrite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24D21-2B81-4CA8-95B8-FA9A886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73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738"/>
                </a:solidFill>
                <a:latin typeface="Aptos"/>
                <a:ea typeface="Aptos"/>
                <a:cs typeface="Aptos"/>
              </a:rPr>
              <a:t>If either intended file already exists, the app writes neither file and asks for a different name.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D613D-553B-4ECC-B402-D6FD4A9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775"/>
                </a:solidFill>
                <a:latin typeface="Aptos"/>
                <a:ea typeface="Aptos"/>
                <a:cs typeface="Aptos"/>
              </a:rPr>
              <a:t>The selected folder remains visible in both complete paths before the user confirms</a:t>
            </a:r>
          </a:p>
        </p:txBody>
      </p:sp>
    </p:spTree>
    <p:extLst>
      <p:ext uri="{BB962C8B-B14F-4D97-AF65-F5344CB8AC3E}">
        <p14:creationId xmlns:p14="http://schemas.microsoft.com/office/powerpoint/2010/main" val="16657240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6995F-54D8-4AEA-A59E-3E24337B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08D19-F66F-4FBA-B429-A91F4F7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7C1FB-42F5-4B6B-82E3-9F7D7E0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7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104 / 104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B7365-6CE5-4150-B159-4B76D3D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MATLAB regression 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7356F-AB9D-4527-9C8B-8EAC717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7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4D5B5-8122-4DCB-A04E-84CAFB53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Live Script ran alone in an empty folder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A287B-26B2-427A-A057-11F9EF31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6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5.3922 / 1.0412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78B06-4A77-4CE8-A841-9DACA9C9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Embedded demo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F9D57-1214-4470-ADD2-C85D608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V1.8 preserved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1240A-655B-4782-AE23-9EA044F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909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Original and audit copy hashes remain identical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0FFC0-1A77-49E2-AA18-65690393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6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78A6D-2707-47E9-AE2C-25F74FCB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EAF2"/>
                </a:solidFill>
                <a:latin typeface="Aptos"/>
                <a:ea typeface="Aptos"/>
                <a:cs typeface="Aptos"/>
              </a:rPr>
              <a:t>Final package folder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3383F-BDFA-492C-B205-5E5A9B34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OneDrive\CHATGPT-Neyer\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135C4-5CB1-4E58-AF6C-33462CAD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D49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D49D"/>
                </a:solidFill>
                <a:latin typeface="Aptos"/>
                <a:ea typeface="Aptos"/>
                <a:cs typeface="Aptos"/>
              </a:rPr>
              <a:t>Physical confirmation still required: prove whether the provisional 0.05 mm usable resolution is repeatable on complete builds.</a:t>
            </a:r>
          </a:p>
        </p:txBody>
      </p:sp>
    </p:spTree>
    <p:extLst>
      <p:ext uri="{BB962C8B-B14F-4D97-AF65-F5344CB8AC3E}">
        <p14:creationId xmlns:p14="http://schemas.microsoft.com/office/powerpoint/2010/main" val="1012774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2026-09-07T09:57:38.0040000Z</dcterms:created>
  <dcterms:modified xsi:type="dcterms:W3CDTF">2026-09-07T09:57:38.0040000Z</dcterms:modified>
</coreProperties>
</file>