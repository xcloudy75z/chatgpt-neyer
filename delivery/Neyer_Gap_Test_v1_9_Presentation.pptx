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0d32baa60a048a9" /><Relationship Type="http://schemas.openxmlformats.org/officeDocument/2006/relationships/extended-properties" Target="/docProps/app.xml" Id="R67d975110cf7415c" /><Relationship Type="http://schemas.openxmlformats.org/officeDocument/2006/relationships/officeDocument" Target="/ppt/presentation.xml" Id="R2aa781d39e784a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6bcb1ac1e044931"/>
  </p:sldMasterIdLst>
  <p:notesMasterIdLst>
    <p:notesMasterId xmlns:r="http://schemas.openxmlformats.org/officeDocument/2006/relationships" r:id="Rbb5d2e9b038a4885"/>
  </p:notesMasterIdLst>
  <p:sldIdLst>
    <p:sldId xmlns:r="http://schemas.openxmlformats.org/officeDocument/2006/relationships" id="256" r:id="R77991596ad0a4803"/>
    <p:sldId xmlns:r="http://schemas.openxmlformats.org/officeDocument/2006/relationships" id="257" r:id="R3088b6636535437e"/>
    <p:sldId xmlns:r="http://schemas.openxmlformats.org/officeDocument/2006/relationships" id="258" r:id="R29a664fde50046c5"/>
    <p:sldId xmlns:r="http://schemas.openxmlformats.org/officeDocument/2006/relationships" id="259" r:id="Rf6442ee6f3954372"/>
    <p:sldId xmlns:r="http://schemas.openxmlformats.org/officeDocument/2006/relationships" id="260" r:id="R79d163e4905d4aae"/>
    <p:sldId xmlns:r="http://schemas.openxmlformats.org/officeDocument/2006/relationships" id="261" r:id="Rf35e39bd820d41c8"/>
    <p:sldId xmlns:r="http://schemas.openxmlformats.org/officeDocument/2006/relationships" id="262" r:id="Rab938fc675ba4fdd"/>
    <p:sldId xmlns:r="http://schemas.openxmlformats.org/officeDocument/2006/relationships" id="263" r:id="R204894d5d3454202"/>
    <p:sldId xmlns:r="http://schemas.openxmlformats.org/officeDocument/2006/relationships" id="264" r:id="Rf88cd2f576db42a8"/>
    <p:sldId xmlns:r="http://schemas.openxmlformats.org/officeDocument/2006/relationships" id="265" r:id="R33bd4e2146bb4047"/>
    <p:sldId xmlns:r="http://schemas.openxmlformats.org/officeDocument/2006/relationships" id="266" r:id="Rc6c59516675b487c"/>
    <p:sldId xmlns:r="http://schemas.openxmlformats.org/officeDocument/2006/relationships" id="267" r:id="R7dc1356b09fe42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279b50ced24132" /><Relationship Type="http://schemas.openxmlformats.org/officeDocument/2006/relationships/slideMaster" Target="/ppt/slideMasters/slideMaster1.xml" Id="R06bcb1ac1e044931" /><Relationship Type="http://schemas.openxmlformats.org/officeDocument/2006/relationships/notesMaster" Target="/ppt/notesMasters/notesMaster1.xml" Id="Rbb5d2e9b038a4885" /><Relationship Type="http://schemas.openxmlformats.org/officeDocument/2006/relationships/presProps" Target="/ppt/presProps.xml" Id="R6d2ded37fd674910" /><Relationship Type="http://schemas.openxmlformats.org/officeDocument/2006/relationships/tableStyles" Target="/ppt/tableStyles.xml" Id="R47f5dee516b94e24" /><Relationship Type="http://schemas.openxmlformats.org/officeDocument/2006/relationships/slide" Target="/ppt/slides/slide1.xml" Id="R77991596ad0a4803" /><Relationship Type="http://schemas.openxmlformats.org/officeDocument/2006/relationships/slide" Target="/ppt/slides/slide2.xml" Id="R3088b6636535437e" /><Relationship Type="http://schemas.openxmlformats.org/officeDocument/2006/relationships/slide" Target="/ppt/slides/slide3.xml" Id="R29a664fde50046c5" /><Relationship Type="http://schemas.openxmlformats.org/officeDocument/2006/relationships/slide" Target="/ppt/slides/slide4.xml" Id="Rf6442ee6f3954372" /><Relationship Type="http://schemas.openxmlformats.org/officeDocument/2006/relationships/slide" Target="/ppt/slides/slide5.xml" Id="R79d163e4905d4aae" /><Relationship Type="http://schemas.openxmlformats.org/officeDocument/2006/relationships/slide" Target="/ppt/slides/slide6.xml" Id="Rf35e39bd820d41c8" /><Relationship Type="http://schemas.openxmlformats.org/officeDocument/2006/relationships/slide" Target="/ppt/slides/slide7.xml" Id="Rab938fc675ba4fdd" /><Relationship Type="http://schemas.openxmlformats.org/officeDocument/2006/relationships/slide" Target="/ppt/slides/slide8.xml" Id="R204894d5d3454202" /><Relationship Type="http://schemas.openxmlformats.org/officeDocument/2006/relationships/slide" Target="/ppt/slides/slide9.xml" Id="Rf88cd2f576db42a8" /><Relationship Type="http://schemas.openxmlformats.org/officeDocument/2006/relationships/slide" Target="/ppt/slides/slide10.xml" Id="R33bd4e2146bb4047" /><Relationship Type="http://schemas.openxmlformats.org/officeDocument/2006/relationships/slide" Target="/ppt/slides/slide11.xml" Id="Rc6c59516675b487c" /><Relationship Type="http://schemas.openxmlformats.org/officeDocument/2006/relationships/slide" Target="/ppt/slides/slide12.xml" Id="R7dc1356b09fe42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a3b0583f87487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899abcd34b94769" /><Relationship Type="http://schemas.openxmlformats.org/officeDocument/2006/relationships/notesMaster" Target="/ppt/notesMasters/notesMaster1.xml" Id="Rb2c346b7288c421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1a4b7be14148c4" /><Relationship Type="http://schemas.openxmlformats.org/officeDocument/2006/relationships/notesMaster" Target="/ppt/notesMasters/notesMaster1.xml" Id="R24479ff842b040b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76ba9703d24503" /><Relationship Type="http://schemas.openxmlformats.org/officeDocument/2006/relationships/notesMaster" Target="/ppt/notesMasters/notesMaster1.xml" Id="R7a13c6a508cc4b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1dee2bc43154170" /><Relationship Type="http://schemas.openxmlformats.org/officeDocument/2006/relationships/notesMaster" Target="/ppt/notesMasters/notesMaster1.xml" Id="Ra1f39333e28d47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0d6dad61ce4ab7" /><Relationship Type="http://schemas.openxmlformats.org/officeDocument/2006/relationships/notesMaster" Target="/ppt/notesMasters/notesMaster1.xml" Id="Rfcd5c71aaf8241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5a6ae860b54337" /><Relationship Type="http://schemas.openxmlformats.org/officeDocument/2006/relationships/notesMaster" Target="/ppt/notesMasters/notesMaster1.xml" Id="R667b83d8324641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65cbea1a9c4a7d" /><Relationship Type="http://schemas.openxmlformats.org/officeDocument/2006/relationships/notesMaster" Target="/ppt/notesMasters/notesMaster1.xml" Id="Rf58eaf56b27b427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af5a6bddab547fc" /><Relationship Type="http://schemas.openxmlformats.org/officeDocument/2006/relationships/notesMaster" Target="/ppt/notesMasters/notesMaster1.xml" Id="Rddb4108d089945a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8ef48aadbd2452c" /><Relationship Type="http://schemas.openxmlformats.org/officeDocument/2006/relationships/notesMaster" Target="/ppt/notesMasters/notesMaster1.xml" Id="Rb2fb2b5979684ca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3db4d5889104fde" /><Relationship Type="http://schemas.openxmlformats.org/officeDocument/2006/relationships/notesMaster" Target="/ppt/notesMasters/notesMaster1.xml" Id="Re18c14095ff4487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93cebcd806142d5" /><Relationship Type="http://schemas.openxmlformats.org/officeDocument/2006/relationships/notesMaster" Target="/ppt/notesMasters/notesMaster1.xml" Id="R4561157c7d98468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84e76483b71451e" /><Relationship Type="http://schemas.openxmlformats.org/officeDocument/2006/relationships/notesMaster" Target="/ppt/notesMasters/notesMaster1.xml" Id="Rcb67d2040dc7413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64227bc48e9431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ec46bba8c0c418c" /><Relationship Type="http://schemas.openxmlformats.org/officeDocument/2006/relationships/slideLayout" Target="/ppt/slideLayouts/slideLayout1.xml" Id="R66e43e66aff84df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6e43e66aff84df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7f195fdfc043d6" /><Relationship Type="http://schemas.openxmlformats.org/officeDocument/2006/relationships/notesSlide" Target="/ppt/notesSlides/notesSlide1.xml" Id="R3a7345314cab4a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a3c693814c4de4" /><Relationship Type="http://schemas.openxmlformats.org/officeDocument/2006/relationships/image" Target="/ppt/media/image.png" Id="R887cf09a07a24d93" /><Relationship Type="http://schemas.openxmlformats.org/officeDocument/2006/relationships/notesSlide" Target="/ppt/notesSlides/notesSlide2.xml" Id="Rac04131978434bb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6edbdc328a464c" /><Relationship Type="http://schemas.openxmlformats.org/officeDocument/2006/relationships/notesSlide" Target="/ppt/notesSlides/notesSlide3.xml" Id="Rc09f597ace21450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f4d829562b4898" /><Relationship Type="http://schemas.openxmlformats.org/officeDocument/2006/relationships/notesSlide" Target="/ppt/notesSlides/notesSlide4.xml" Id="R39bface9b199430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dcf7b4f774f5e" /><Relationship Type="http://schemas.openxmlformats.org/officeDocument/2006/relationships/notesSlide" Target="/ppt/notesSlides/notesSlide5.xml" Id="Rd9fdefdaa1d440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6863c41b4c4c8a" /><Relationship Type="http://schemas.openxmlformats.org/officeDocument/2006/relationships/chart" Target="/ppt/slides/charts/chart1.xml" Id="Rd5bf6b5a9dfb415c" /><Relationship Type="http://schemas.openxmlformats.org/officeDocument/2006/relationships/notesSlide" Target="/ppt/notesSlides/notesSlide6.xml" Id="Rcac381b954ab4c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3c5522fb34501" /><Relationship Type="http://schemas.openxmlformats.org/officeDocument/2006/relationships/chart" Target="/ppt/slides/charts/chart2.xml" Id="R2faf338fcbd6419e" /><Relationship Type="http://schemas.openxmlformats.org/officeDocument/2006/relationships/notesSlide" Target="/ppt/notesSlides/notesSlide7.xml" Id="R049169c5f061430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38addcc673d4116" /><Relationship Type="http://schemas.openxmlformats.org/officeDocument/2006/relationships/image" Target="/ppt/media/image2.png" Id="Rcb280737da56484c" /><Relationship Type="http://schemas.openxmlformats.org/officeDocument/2006/relationships/notesSlide" Target="/ppt/notesSlides/notesSlide8.xml" Id="R9fb19f0c700047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5601098a264ee5" /><Relationship Type="http://schemas.openxmlformats.org/officeDocument/2006/relationships/image" Target="/ppt/media/image3.png" Id="R6debc727a53c4e3c" /><Relationship Type="http://schemas.openxmlformats.org/officeDocument/2006/relationships/image" Target="/ppt/media/image4.png" Id="Rb8475d24f4004d09" /><Relationship Type="http://schemas.openxmlformats.org/officeDocument/2006/relationships/image" Target="/ppt/media/image5.png" Id="Re6e60c810d094a84" /><Relationship Type="http://schemas.openxmlformats.org/officeDocument/2006/relationships/notesSlide" Target="/ppt/notesSlides/notesSlide9.xml" Id="Rb0a502b4993243c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42f32f62244739" /><Relationship Type="http://schemas.openxmlformats.org/officeDocument/2006/relationships/notesSlide" Target="/ppt/notesSlides/notesSlide10.xml" Id="R58735b6603ff42a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37f9b2eacc4bdc" /><Relationship Type="http://schemas.openxmlformats.org/officeDocument/2006/relationships/notesSlide" Target="/ppt/notesSlides/notesSlide11.xml" Id="R42f9370170ab4c0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1d7c01f9ad47eb" /><Relationship Type="http://schemas.openxmlformats.org/officeDocument/2006/relationships/notesSlide" Target="/ppt/notesSlides/notesSlide12.xml" Id="Re34d0422fc114190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True width 0.10 mm</c:v>
          </c:tx>
          <c:spPr>
            <a:ln xmlns:a="http://schemas.openxmlformats.org/drawingml/2006/main" w="38100">
              <a:solidFill>
                <a:srgbClr val="D98A2B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D98A2B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0.835</c:v>
              </c:pt>
              <c:pt idx="1">
                <c:v>0.655</c:v>
              </c:pt>
              <c:pt idx="2">
                <c:v>0.46</c:v>
              </c:pt>
              <c:pt idx="3">
                <c:v>0.035</c:v>
              </c:pt>
            </c:numLit>
          </c:val>
        </c:ser>
        <c:ser>
          <c:idx val="1"/>
          <c:order val="1"/>
          <c:tx>
            <c:v>True width 0.20 mm</c:v>
          </c:tx>
          <c:spPr>
            <a:ln xmlns:a="http://schemas.openxmlformats.org/drawingml/2006/main" w="28575">
              <a:solidFill>
                <a:srgbClr val="B9A047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B9A047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0.925</c:v>
              </c:pt>
              <c:pt idx="1">
                <c:v>0.865</c:v>
              </c:pt>
              <c:pt idx="2">
                <c:v>0.79</c:v>
              </c:pt>
              <c:pt idx="3">
                <c:v>0.355</c:v>
              </c:pt>
            </c:numLit>
          </c:val>
        </c:ser>
        <c:ser>
          <c:idx val="2"/>
          <c:order val="2"/>
          <c:tx>
            <c:v>True width 0.50 mm</c:v>
          </c:tx>
          <c:spPr>
            <a:ln xmlns:a="http://schemas.openxmlformats.org/drawingml/2006/main" w="28575">
              <a:solidFill>
                <a:srgbClr val="26739B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26739B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1</c:v>
              </c:pt>
              <c:pt idx="1">
                <c:v>0.985</c:v>
              </c:pt>
              <c:pt idx="2">
                <c:v>0.98</c:v>
              </c:pt>
              <c:pt idx="3">
                <c:v>0.84</c:v>
              </c:pt>
            </c:numLit>
          </c:val>
        </c:ser>
        <c:ser>
          <c:idx val="3"/>
          <c:order val="3"/>
          <c:tx>
            <c:v>True width 1.00 mm</c:v>
          </c:tx>
          <c:spPr>
            <a:ln xmlns:a="http://schemas.openxmlformats.org/drawingml/2006/main" w="38100">
              <a:solidFill>
                <a:srgbClr val="23837B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23837B"/>
              </a:solidFill>
            </c:spPr>
          </c:marker>
          <c:cat>
            <c:numLit>
              <c:formatCode>General</c:formatCode>
              <c:ptCount val="4"/>
              <c:pt idx="0">
                <c:v>0.01</c:v>
              </c:pt>
              <c:pt idx="1">
                <c:v>0.05</c:v>
              </c:pt>
              <c:pt idx="2">
                <c:v>0.10</c:v>
              </c:pt>
              <c:pt idx="3">
                <c:v>0.25</c:v>
              </c:pt>
            </c:numLit>
          </c:cat>
          <c:val>
            <c:numLit>
              <c:formatCode>0%</c:formatCode>
              <c:ptCount val="4"/>
              <c:pt idx="0">
                <c:v>0.995</c:v>
              </c:pt>
              <c:pt idx="1">
                <c:v>0.99</c:v>
              </c:pt>
              <c:pt idx="2">
                <c:v>0.99</c:v>
              </c:pt>
              <c:pt idx="3">
                <c:v>0.925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Physical increment (mm)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1D7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Aptos"/>
                    <a:ea typeface="Aptos"/>
                    <a:cs typeface="Aptos"/>
                  </a:rPr>
                  <a:t>Overlap within 20 tests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Aptos"/>
                  <a:ea typeface="Aptos"/>
                  <a:cs typeface="Aptos"/>
                </a:defRPr>
              </a:pPr>
            </a:p>
          </c:txPr>
        </c:title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BFCFD"/>
    </a:solidFill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20-test budget</c:v>
          </c:tx>
          <c:spPr>
            <a:solidFill xmlns:a="http://schemas.openxmlformats.org/drawingml/2006/main">
              <a:srgbClr val="26739B"/>
            </a:solidFill>
          </c:spPr>
          <c:cat>
            <c:strLit>
              <c:ptCount val="3"/>
              <c:pt idx="0">
                <c:v>No floor</c:v>
              </c:pt>
              <c:pt idx="1">
                <c:v>1 × increment</c:v>
              </c:pt>
              <c:pt idx="2">
                <c:v>2 × increment</c:v>
              </c:pt>
            </c:strLit>
          </c:cat>
          <c:val>
            <c:numLit>
              <c:formatCode>0.00%</c:formatCode>
              <c:ptCount val="3"/>
              <c:pt idx="0">
                <c:v>0.9323</c:v>
              </c:pt>
              <c:pt idx="1">
                <c:v>0.9233</c:v>
              </c:pt>
              <c:pt idx="2">
                <c:v>0.9336</c:v>
              </c:pt>
            </c:numLit>
          </c:val>
        </c:ser>
        <c:ser>
          <c:idx val="1"/>
          <c:order val="1"/>
          <c:tx>
            <c:v>50-test budget</c:v>
          </c:tx>
          <c:spPr>
            <a:solidFill xmlns:a="http://schemas.openxmlformats.org/drawingml/2006/main">
              <a:srgbClr val="23837B"/>
            </a:solidFill>
          </c:spPr>
          <c:cat>
            <c:strLit>
              <c:ptCount val="3"/>
              <c:pt idx="0">
                <c:v>No floor</c:v>
              </c:pt>
              <c:pt idx="1">
                <c:v>1 × increment</c:v>
              </c:pt>
              <c:pt idx="2">
                <c:v>2 × increment</c:v>
              </c:pt>
            </c:strLit>
          </c:cat>
          <c:val>
            <c:numLit>
              <c:formatCode>0.00%</c:formatCode>
              <c:ptCount val="3"/>
              <c:pt idx="0">
                <c:v>0.9728</c:v>
              </c:pt>
              <c:pt idx="1">
                <c:v>0.9792</c:v>
              </c:pt>
              <c:pt idx="2">
                <c:v>0.9964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 b="1">
                  <a:solidFill>
                    <a:srgbClr val="14273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88"/>
        </c:scaling>
        <c:delete val="0"/>
        <c:axPos val="l"/>
        <c:majorGridlines>
          <c:spPr>
            <a:ln xmlns:a="http://schemas.openxmlformats.org/drawingml/2006/main" w="9525">
              <a:solidFill>
                <a:srgbClr val="C7D1D7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BFCFD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3B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029366-4C16-402D-AE1B-7E96C7A53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43000"/>
            <a:ext cx="8572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Neyer Gap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E496DA-F3CC-4B8F-BA8A-A3538B0B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57400"/>
            <a:ext cx="828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210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MATLAB implementation audit and V1.9 delivery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E8721A-30AA-4424-97FD-255A96515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44767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A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C8913E-C109-4984-A01E-B65A5FB3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43250"/>
            <a:ext cx="17145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C36B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ED9F3B-DD13-443C-BA24-E3F4B211D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143250"/>
            <a:ext cx="447675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37B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7D7649-288F-410B-B956-7A9F1FBFA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657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Decreasing-interaction gap model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5ECB9-F626-4E55-B190-B6DFC611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10050"/>
            <a:ext cx="742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Standalone MATLAB R2022b Live Script</a:t>
            </a:r>
          </a:p>
          <a:p xmlns:a="http://schemas.openxmlformats.org/drawingml/2006/main">
            <a:pPr algn="l">
              <a:defRPr sz="150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Audit • physical workflow • simulation evidence • operation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5817B9-C6E4-4F4C-AE12-72DDF478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BBD1D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BBD1DC"/>
                </a:solidFill>
                <a:latin typeface="Aptos"/>
                <a:ea typeface="Aptos"/>
                <a:cs typeface="Aptos"/>
              </a:rPr>
              <a:t>September 2026</a:t>
            </a:r>
          </a:p>
        </p:txBody>
      </p:sp>
    </p:spTree>
    <p:extLst>
      <p:ext uri="{BB962C8B-B14F-4D97-AF65-F5344CB8AC3E}">
        <p14:creationId xmlns:p14="http://schemas.microsoft.com/office/powerpoint/2010/main" val="18936320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8E7F9FF-FB00-43E0-9BCE-CCDA62E2F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What the method estimates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A70CF7-7E5C-4277-A443-CCF37318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AAA817-D95C-41D5-BEE2-2CAEB599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7cf09a07a24d93"/>
          <a:stretch xmlns:a="http://schemas.openxmlformats.org/drawingml/2006/main"/>
        </p:blipFill>
        <p:spPr>
          <a:xfrm xmlns:a="http://schemas.openxmlformats.org/drawingml/2006/main">
            <a:off x="590550" y="1483265"/>
            <a:ext cx="6191250" cy="4215319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C0C5C2-FA06-4235-9A28-8A8AB4D0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5430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26739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6739B"/>
                </a:solidFill>
                <a:latin typeface="Aptos"/>
                <a:ea typeface="Aptos"/>
                <a:cs typeface="Aptos"/>
              </a:rPr>
              <a:t>Middle gap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DF8161-DD96-4063-88F8-BB1533DB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952625"/>
            <a:ext cx="3714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183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The gap with about 50% interaction chance.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DBF095-025B-4BBE-8AE6-C65E0657B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76550"/>
            <a:ext cx="371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615"/>
          </a:bodyPr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Transition width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7FCB33-56C3-4F4B-925A-09DE3868F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286125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How quickly the material response changes around the middle.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ECF05-DD09-4F06-86D7-86B4DB287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610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Smaller gap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CAE857-BF28-4ADB-B1A2-BFAAA559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914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interaction likely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F3181E-CCBB-4137-BAEF-AE63A1035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6101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Larger gap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7DA83F-E496-4A0F-9EC6-65985570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149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196"/>
          </a:bodyPr>
          <a:lstStyle xmlns:a="http://schemas.openxmlformats.org/drawingml/2006/main"/>
          <a:p xmlns:a="http://schemas.openxmlformats.org/drawingml/2006/main">
            <a:pPr algn="r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interaction unlikely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9CF7F0-A4E2-4D84-96D8-261DB8FA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10200"/>
            <a:ext cx="3714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D1D7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5AF65C-E7A9-4082-9D9A-5127FC01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410200"/>
            <a:ext cx="1619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A2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6CDA6E-93AD-474C-8449-DEE497C3F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5410200"/>
            <a:ext cx="152400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837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57203A-3EDD-41EE-A5A8-EFFC133E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4729383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2DABF-EF8B-41C9-AE6F-39A39F4D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V1.8 audit findings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3A267A-3130-4754-99D1-675FDDEB8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1D3558-F231-41DD-B41D-66C1B2B43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09600" y="1352550"/>
          <a:ext xmlns:a="http://schemas.openxmlformats.org/drawingml/2006/main" cx="109728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78702"/>
                <a:gridCol w="3957403"/>
                <a:gridCol w="5036695"/>
              </a:tblGrid>
              <a:tr h="5715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Area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V1.8 did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Audit result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Stage 1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Simplified outward doubling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Reference table matched, general paper rule did not</a:t>
                      </a:r>
                    </a:p>
                  </a:txBody>
                  <a:tcPr marL="85725" marR="85725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Stage 2 transition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Used 1.5 × guessed sigma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Historical reconstruction, not Neyer's rule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0.8 shrink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Setting existed but stayed inactive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Repeated Stage-2 behavior did not match</a:t>
                      </a:r>
                    </a:p>
                  </a:txBody>
                  <a:tcPr marL="85725" marR="85725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MLE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Probit likelihood with positive sigma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Core method matched; numerical depth remains a limitation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D-optimal point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Maximised information determinant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Core rule matched; grid and fence are engineering choices</a:t>
                      </a:r>
                    </a:p>
                  </a:txBody>
                  <a:tcPr marL="85725" marR="85725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Rounding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Two decimal places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Reproduced Table 1 but did not describe the physical tool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Stopping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Fixed budget, no estimate without overlap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Sound; repeated boundary clamping needed a safe pause</a:t>
                      </a:r>
                    </a:p>
                  </a:txBody>
                  <a:tcPr marL="85725" marR="85725" marT="57150" marB="5715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572186-39E4-4B79-B04C-68F8B762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Original V1.8 remains unchanged and hash-matched</a:t>
            </a:r>
          </a:p>
        </p:txBody>
      </p:sp>
    </p:spTree>
    <p:extLst>
      <p:ext uri="{BB962C8B-B14F-4D97-AF65-F5344CB8AC3E}">
        <p14:creationId xmlns:p14="http://schemas.microsoft.com/office/powerpoint/2010/main" val="165582594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4717FD-E70D-4861-90C2-9C8694890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The Stage 2 correction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ADDC7B-1D7C-4DCF-91D7-2E481DEB5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2C6855-8B60-40E7-972E-5FF7666FB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42041-A45F-4E65-9FA1-0D118E040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1.5 × sigma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82D837-9D57-477D-8BCA-0A8E390B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95500"/>
            <a:ext cx="409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This threshold was chosen while reconstructing Table 1. The paper uses one guessed sigma.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3BEEFB-E608-4BA7-B60C-27FC76E5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6712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028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0.8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1BF9E-BAB5-4737-8995-EF5E73B05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67200"/>
            <a:ext cx="4095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After each Part-2 test, multiply the working sigma by 0.8.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381625" y="1562100"/>
          <a:ext xmlns:a="http://schemas.openxmlformats.org/drawingml/2006/main" cx="6096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341120"/>
                <a:gridCol w="2072640"/>
                <a:gridCol w="2682240"/>
              </a:tblGrid>
              <a:tr h="78581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State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Next action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Exit condition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Part 1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Bisect the response bracket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Bracket width reaches 1.0 guessed sigma</a:t>
                      </a:r>
                    </a:p>
                  </a:txBody>
                  <a:tcPr marL="85725" marR="85725" marT="57150" marB="57150"/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Part 2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One-way D-optimal selection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Yes and No results strictly overlap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785813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After each Part-2 test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Working sigma × 0.8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Never return to bisection</a:t>
                      </a:r>
                    </a:p>
                  </a:txBody>
                  <a:tcPr marL="85725" marR="85725" marT="57150" marB="57150"/>
                </a:tc>
              </a:tr>
            </a:tbl>
          </a:graphicData>
        </a:graphic>
      </p:graphicFrame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5E8F3-0BE3-4C7C-B09D-EAD7DE9E7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504825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Table 1 hid the problem because its first D-optimal test created overlap immediately.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066580-0711-405D-A508-D696C65D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39219861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008387-653D-4F4F-9206-2800BFAB7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Physical gap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C08131-DED3-4826-BA29-79B8C972E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4D20B9-A26D-4291-AEE9-77A0EC8B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72800" cy="2571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17558"/>
                <a:gridCol w="4235116"/>
                <a:gridCol w="4620126"/>
              </a:tblGrid>
              <a:tr h="642938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Gap value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Plain meaning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Use in V1.9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Requested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Mathematical best next point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Kept in the audit record</a:t>
                      </a:r>
                    </a:p>
                  </a:txBody>
                  <a:tcPr marL="85725" marR="85725" marT="57150" marB="57150"/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Reachable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Nearest different buildable and useful setting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Shown to the operator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642938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Measured mean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Average of 4 or 5 readings on this new build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Used as the statistical gap</a:t>
                      </a:r>
                    </a:p>
                  </a:txBody>
                  <a:tcPr marL="85725" marR="85725" marT="57150" marB="5715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5FF4DE-2A8E-48A3-8564-C26EF732C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647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Each destructive test uses a new spacer build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B422F3-ED6C-4220-82BC-DA184B4C1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76800"/>
            <a:ext cx="1057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Build the requested reachable setting. Measure the unchanged setup four or five times before testing. Enter all readings, then record Interaction or No interaction. Do not reuse the melted spacer.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11F2F6-B59C-4C50-95A8-325E24C05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11234658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AA3816-3FE1-4459-B3E8-161A689B1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Equipment resolution changes Stage 2 performance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EEB942-A278-41DF-9580-C8B428CC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276EDC-23A8-4119-A394-C1073D20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85800" y="1381125"/>
          <a:ext xmlns:a="http://schemas.openxmlformats.org/drawingml/2006/main" cx="781050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bf6b5a9dfb415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40FC93-EE1D-48C6-8362-1F3D1A7F1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90700"/>
            <a:ext cx="271462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0.10 mm is workable when the true transition is broad. It becomes restrictive when the transition itself is near 0.10 mm.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5D55B-3F22-4655-A6BE-D38AD5671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24375"/>
            <a:ext cx="2571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32 settings × 200 paired repetitions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D2B41-6FCF-48E7-B04F-3B76B4E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Source: increment-study-results.csv</a:t>
            </a:r>
          </a:p>
        </p:txBody>
      </p:sp>
    </p:spTree>
    <p:extLst>
      <p:ext uri="{BB962C8B-B14F-4D97-AF65-F5344CB8AC3E}">
        <p14:creationId xmlns:p14="http://schemas.microsoft.com/office/powerpoint/2010/main" val="63463830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FF8D49-E685-4783-8474-FEA04C3E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Final physical simulation: 129,600 runs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1F69A9-EAAE-42A5-9EF1-1E4598674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776896-9AAB-4BD7-87D4-A701BA8E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85800" y="1524000"/>
          <a:ext xmlns:a="http://schemas.openxmlformats.org/drawingml/2006/main" cx="7239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af338fcbd6419e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8E7817-C47F-430A-ADAC-5D9C6072F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619250"/>
            <a:ext cx="2762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919"/>
          </a:bodyPr>
          <a:lstStyle xmlns:a="http://schemas.openxmlformats.org/drawingml/2006/main"/>
          <a:p xmlns:a="http://schemas.openxmlformats.org/drawingml/2006/main">
            <a:pPr algn="l">
              <a:defRPr sz="2475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2475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2 × increment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C13FD3-4333-4F1C-8346-2C874088A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33600"/>
            <a:ext cx="266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Chosen as the Stage-2 working-sigma floor.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F7C314-C81A-4695-958F-37A8ED2FC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238500"/>
            <a:ext cx="266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At 50 tests: 99.64% actual overlap, 0.00% false overlap.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8C2580-167B-4EBB-A4AC-264AB279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Middle and width RMSE stayed unchanged at the displayed precision.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8929FF-D72C-4232-B675-971053389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432 settings × 300 repetitions</a:t>
            </a:r>
          </a:p>
        </p:txBody>
      </p:sp>
    </p:spTree>
    <p:extLst>
      <p:ext uri="{BB962C8B-B14F-4D97-AF65-F5344CB8AC3E}">
        <p14:creationId xmlns:p14="http://schemas.microsoft.com/office/powerpoint/2010/main" val="142073123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380027-8160-4E02-9939-7F32688F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Boundaries and safe stopping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56B49-4AD4-461E-8F4D-A3F087D70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DA47A9-1AE5-4CA2-B9D6-E7386BB4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280737da56484c"/>
          <a:stretch xmlns:a="http://schemas.openxmlformats.org/drawingml/2006/main"/>
        </p:blipFill>
        <p:spPr>
          <a:xfrm xmlns:a="http://schemas.openxmlformats.org/drawingml/2006/main">
            <a:off x="6572250" y="1676678"/>
            <a:ext cx="4762500" cy="3218894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36832-48C8-4AAC-B2A4-BAEB045E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76375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6739B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6739B"/>
                </a:solidFill>
                <a:latin typeface="Aptos"/>
                <a:ea typeface="Aptos"/>
                <a:cs typeface="Aptos"/>
              </a:rPr>
              <a:t>Default study range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DDAB4A-40CC-40B4-87B7-468117878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0500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982"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0 mm to 10 mm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C4B8AA-D082-4E1D-9B63-747FA889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Unexpected result at a boundary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7B7374-E8F2-4492-81D0-D01DC5FE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Repeat that same boundary once for confirmation.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5ED2C55-BD7B-4011-B38D-497717F96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4857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4722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3837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3837B"/>
                </a:solidFill>
                <a:latin typeface="Aptos"/>
                <a:ea typeface="Aptos"/>
                <a:cs typeface="Aptos"/>
              </a:rPr>
              <a:t>Same contradiction twice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6B0919-0479-4349-B827-6E407631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148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Pause for review and preserve the data. The software does not label the whole experiment a failure.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A357DD-6590-4756-9956-9ECAFBB1E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6857873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DC2B0F-A538-442A-8A2D-6A3192260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Operator screens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55ADCB-C5FD-499A-B373-696835881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C8A41F-F652-4F57-BA7D-6AF69D0E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ebc727a53c4e3c"/>
          <a:stretch xmlns:a="http://schemas.openxmlformats.org/drawingml/2006/main"/>
        </p:blipFill>
        <p:spPr>
          <a:xfrm xmlns:a="http://schemas.openxmlformats.org/drawingml/2006/main">
            <a:off x="609600" y="1854994"/>
            <a:ext cx="3286125" cy="2957513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475d24f4004d09"/>
          <a:stretch xmlns:a="http://schemas.openxmlformats.org/drawingml/2006/main"/>
        </p:blipFill>
        <p:spPr>
          <a:xfrm xmlns:a="http://schemas.openxmlformats.org/drawingml/2006/main">
            <a:off x="4333875" y="1791644"/>
            <a:ext cx="3286125" cy="3084213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e60c810d094a84"/>
          <a:stretch xmlns:a="http://schemas.openxmlformats.org/drawingml/2006/main"/>
        </p:blipFill>
        <p:spPr>
          <a:xfrm xmlns:a="http://schemas.openxmlformats.org/drawingml/2006/main">
            <a:off x="8058150" y="1918891"/>
            <a:ext cx="3286125" cy="2829719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FD1A1-516D-4D1E-A682-0C3AE0A8D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Main menu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72D608-C81F-4E57-B292-9BA904602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42925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Physical settings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3BA70F-8979-4F2D-8487-E0E27F6DA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429250"/>
            <a:ext cx="3286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9474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Operating help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657C45-8278-48FC-A43D-636AB098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Neyer Gap Test v1.9</a:t>
            </a:r>
          </a:p>
        </p:txBody>
      </p:sp>
    </p:spTree>
    <p:extLst>
      <p:ext uri="{BB962C8B-B14F-4D97-AF65-F5344CB8AC3E}">
        <p14:creationId xmlns:p14="http://schemas.microsoft.com/office/powerpoint/2010/main" val="13872976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99517A-616D-4BF9-96C9-3AF6E9AB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Running V1.9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8717A9-674C-4FAF-8DAF-0502F2E78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F8E5F7-0705-46C6-8A46-5A46AF40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666750" y="1381125"/>
          <a:ext xmlns:a="http://schemas.openxmlformats.org/drawingml/2006/main" cx="10810875" cy="4191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666750"/>
                <a:gridCol w="3864429"/>
                <a:gridCol w="6279696"/>
              </a:tblGrid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85725" marR="85725" marT="57150" marB="57150">
                    <a:solidFill>
                      <a:srgbClr val="2673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Open and run the Live Script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Neyer_Gap_Test_v1_9.mlx in MATLAB R2022b</a:t>
                      </a:r>
                    </a:p>
                  </a:txBody>
                  <a:tcPr marL="85725" marR="85725" marT="57150" marB="57150"/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85725" marR="85725" marT="57150" marB="57150">
                    <a:solidFill>
                      <a:srgbClr val="2383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Verify the build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Run a Demo should return 5.3922 mm and 1.0412 mm</a:t>
                      </a:r>
                    </a:p>
                  </a:txBody>
                  <a:tcPr marL="85725" marR="85725" marT="57150" marB="57150"/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85725" marR="85725" marT="57150" marB="57150">
                    <a:solidFill>
                      <a:srgbClr val="2673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Enter the study setup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Use 0–10 mm, test budget, guessed width, and confirmed increment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85725" marR="85725" marT="57150" marB="57150">
                    <a:solidFill>
                      <a:srgbClr val="23837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Build and measure each new spacer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Enter four or five readings before the destructive test</a:t>
                      </a:r>
                    </a:p>
                  </a:txBody>
                  <a:tcPr marL="85725" marR="85725" marT="57150" marB="57150"/>
                </a:tc>
              </a:tr>
              <a:tr h="838200">
                <a:tc>
                  <a:txBody>
                    <a:bodyPr/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85725" marR="85725" marT="57150" marB="57150">
                    <a:solidFill>
                      <a:srgbClr val="26739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Record the outcome and continue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25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Choose Interaction or No interaction, then save the final results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281460-AE6B-4269-BF12-18633144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No executable, helper folder, addpath, internet connection, or add-on package required</a:t>
            </a:r>
          </a:p>
        </p:txBody>
      </p:sp>
    </p:spTree>
    <p:extLst>
      <p:ext uri="{BB962C8B-B14F-4D97-AF65-F5344CB8AC3E}">
        <p14:creationId xmlns:p14="http://schemas.microsoft.com/office/powerpoint/2010/main" val="199501596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C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D3FCBD-AC5D-4BD6-AFCB-AF5F06DF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42738"/>
                </a:solidFill>
                <a:latin typeface="Aptos"/>
                <a:ea typeface="Aptos"/>
                <a:cs typeface="Aptos"/>
              </a:rPr>
              <a:t>Saving result data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288ACA-D5F4-45DD-87D6-B859D2A11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2870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7C5FC5-EF1D-4859-B0D4-10D9398A4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81000"/>
            <a:ext cx="438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267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4535B8-390E-42EE-BF6D-2E2107DCB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1057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6428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73B57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73B57"/>
                </a:solidFill>
                <a:latin typeface="Aptos"/>
                <a:ea typeface="Aptos"/>
                <a:cs typeface="Aptos"/>
              </a:rPr>
              <a:t>The operator chooses the folder and base name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66750" y="2095500"/>
          <a:ext xmlns:a="http://schemas.openxmlformats.org/drawingml/2006/main" cx="10810875" cy="2190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949502"/>
                <a:gridCol w="4430686"/>
                <a:gridCol w="4430686"/>
              </a:tblGrid>
              <a:tr h="730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Complete path shown before saving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Contents</a:t>
                      </a:r>
                    </a:p>
                  </a:txBody>
                  <a:tcPr marL="85725" marR="85725" marT="57150" marB="57150">
                    <a:solidFill>
                      <a:srgbClr val="173B57"/>
                    </a:solidFill>
                  </a:tcPr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CSV data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&lt;selected folder&gt;\&lt;chosen name&gt;.csv</a:t>
                      </a:r>
                    </a:p>
                  </a:txBody>
                  <a:tcPr marL="85725" marR="85725" marT="57150" marB="57150"/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Every requested, reachable, measured, and outcome value</a:t>
                      </a:r>
                    </a:p>
                  </a:txBody>
                  <a:tcPr marL="85725" marR="85725" marT="57150" marB="57150"/>
                </a:tc>
              </a:tr>
              <a:tr h="730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HTML result report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&lt;selected folder&gt;\&lt;chosen name&gt;.html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142738"/>
                          </a:solidFill>
                          <a:latin typeface="Aptos"/>
                          <a:ea typeface="Aptos"/>
                          <a:cs typeface="Aptos"/>
                        </a:rPr>
                        <a:t>Self-contained summary, estimates, and chart</a:t>
                      </a:r>
                    </a:p>
                  </a:txBody>
                  <a:tcPr marL="85725" marR="85725" marT="57150" marB="57150">
                    <a:solidFill>
                      <a:srgbClr val="F0F4F6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566A7D-EFBE-48EB-8F84-64009A02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7654"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D98A2B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D98A2B"/>
                </a:solidFill>
                <a:latin typeface="Aptos"/>
                <a:ea typeface="Aptos"/>
                <a:cs typeface="Aptos"/>
              </a:rPr>
              <a:t>No silent overwrite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6D15E-3925-4249-975A-816B1F76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387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42738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738"/>
                </a:solidFill>
                <a:latin typeface="Aptos"/>
                <a:ea typeface="Aptos"/>
                <a:cs typeface="Aptos"/>
              </a:rPr>
              <a:t>If either intended file already exists, the app writes neither file and asks for a different name.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DF50F8-9A04-483B-9891-4383A03F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267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26775"/>
                </a:solidFill>
                <a:latin typeface="Aptos"/>
                <a:ea typeface="Aptos"/>
                <a:cs typeface="Aptos"/>
              </a:rPr>
              <a:t>The selected folder remains visible in both complete paths before the user confirms</a:t>
            </a:r>
          </a:p>
        </p:txBody>
      </p:sp>
    </p:spTree>
    <p:extLst>
      <p:ext uri="{BB962C8B-B14F-4D97-AF65-F5344CB8AC3E}">
        <p14:creationId xmlns:p14="http://schemas.microsoft.com/office/powerpoint/2010/main" val="161921549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73B5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07FF9F-D463-444C-BF44-8B32FBE57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7200"/>
            <a:ext cx="857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Final 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BAA906-2823-4997-BE63-F28A22958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23950"/>
            <a:ext cx="10934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739B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4CA5AE-AD0D-4BAE-A3C8-10D868C95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3974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77 / 77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F1EAD6-D7AE-4BBD-9A74-328AAA02A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MATLAB regression tests passed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F7F77F-7D25-472B-A0B7-A6C2D799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3974"/>
          </a:bodyPr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 file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141D7C-42BE-4CA0-BA02-B658E822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90950"/>
            <a:ext cx="447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Live Script ran alone in an empty folder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B53D17-BEF6-4D9E-BB54-FA548086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62100"/>
            <a:ext cx="476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037"/>
          </a:bodyPr>
          <a:lstStyle xmlns:a="http://schemas.openxmlformats.org/drawingml/2006/main"/>
          <a:p xmlns:a="http://schemas.openxmlformats.org/drawingml/2006/main">
            <a:pPr algn="l">
              <a:defRPr sz="33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3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5.3922 / 1.0412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8ADD8C-09E1-4455-8735-7465885F8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22098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Embedded demo result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0FFA9D-739C-4F1D-A36C-99140B38E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143250"/>
            <a:ext cx="4095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V1.8 preserved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1C1360-2471-4ABB-9D17-417CB113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909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D8EAF2"/>
                </a:solidFill>
                <a:latin typeface="Aptos"/>
                <a:ea typeface="Aptos"/>
                <a:cs typeface="Aptos"/>
              </a:rPr>
              <a:t>Original and audit copy hashes remain identical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470D3-E097-4F7E-A1D9-2BC87A638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763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8A2B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5A324F-2AE0-4CB6-A261-BFA1377C5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8EAF2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8EAF2"/>
                </a:solidFill>
                <a:latin typeface="Aptos"/>
                <a:ea typeface="Aptos"/>
                <a:cs typeface="Aptos"/>
              </a:rPr>
              <a:t>Final package folder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6C2DEE-2569-4221-ADF1-AEF88A64C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00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OneDrive\CHATGPT-Neyer\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AE432C-8BAE-4757-88A2-CFB11179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572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2D49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2D49D"/>
                </a:solidFill>
                <a:latin typeface="Aptos"/>
                <a:ea typeface="Aptos"/>
                <a:cs typeface="Aptos"/>
              </a:rPr>
              <a:t>Operator decision still required: confirm whether the real increment is 0.05 mm or 0.10 mm.</a:t>
            </a:r>
          </a:p>
        </p:txBody>
      </p:sp>
    </p:spTree>
    <p:extLst>
      <p:ext uri="{BB962C8B-B14F-4D97-AF65-F5344CB8AC3E}">
        <p14:creationId xmlns:p14="http://schemas.microsoft.com/office/powerpoint/2010/main" val="73593151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2026-09-07T05:20:18.3890000Z</dcterms:created>
  <dcterms:modified xsi:type="dcterms:W3CDTF">2026-09-07T05:20:18.3890000Z</dcterms:modified>
</coreProperties>
</file>