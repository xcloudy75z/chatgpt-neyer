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65772f81c9471b" /><Relationship Type="http://schemas.openxmlformats.org/officeDocument/2006/relationships/extended-properties" Target="/docProps/app.xml" Id="R0ab5185a96a0451a" /><Relationship Type="http://schemas.openxmlformats.org/officeDocument/2006/relationships/officeDocument" Target="/ppt/presentation.xml" Id="R6aa5482ffc36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d268bc72a44e5a"/>
  </p:sldMasterIdLst>
  <p:notesMasterIdLst>
    <p:notesMasterId xmlns:r="http://schemas.openxmlformats.org/officeDocument/2006/relationships" r:id="R42e501fb7476489d"/>
  </p:notesMasterIdLst>
  <p:sldIdLst>
    <p:sldId xmlns:r="http://schemas.openxmlformats.org/officeDocument/2006/relationships" id="256" r:id="R48bae8b675f244dc"/>
    <p:sldId xmlns:r="http://schemas.openxmlformats.org/officeDocument/2006/relationships" id="257" r:id="R5fba481eead34301"/>
    <p:sldId xmlns:r="http://schemas.openxmlformats.org/officeDocument/2006/relationships" id="258" r:id="R3de876aedcf74281"/>
    <p:sldId xmlns:r="http://schemas.openxmlformats.org/officeDocument/2006/relationships" id="259" r:id="Rc907133fa73b4e9b"/>
    <p:sldId xmlns:r="http://schemas.openxmlformats.org/officeDocument/2006/relationships" id="260" r:id="R703d525032f746a9"/>
    <p:sldId xmlns:r="http://schemas.openxmlformats.org/officeDocument/2006/relationships" id="261" r:id="R6540d934b37844cd"/>
    <p:sldId xmlns:r="http://schemas.openxmlformats.org/officeDocument/2006/relationships" id="262" r:id="R247e035d9a98424f"/>
    <p:sldId xmlns:r="http://schemas.openxmlformats.org/officeDocument/2006/relationships" id="263" r:id="Rc0e0f702512b42bb"/>
    <p:sldId xmlns:r="http://schemas.openxmlformats.org/officeDocument/2006/relationships" id="264" r:id="R790f9e2f764648dd"/>
    <p:sldId xmlns:r="http://schemas.openxmlformats.org/officeDocument/2006/relationships" id="265" r:id="R28c46bacc460496d"/>
    <p:sldId xmlns:r="http://schemas.openxmlformats.org/officeDocument/2006/relationships" id="266" r:id="Rc7c443ae85924335"/>
    <p:sldId xmlns:r="http://schemas.openxmlformats.org/officeDocument/2006/relationships" id="267" r:id="Rada51f53d1d842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f7433fb74d485c" /><Relationship Type="http://schemas.openxmlformats.org/officeDocument/2006/relationships/slideMaster" Target="/ppt/slideMasters/slideMaster1.xml" Id="R29d268bc72a44e5a" /><Relationship Type="http://schemas.openxmlformats.org/officeDocument/2006/relationships/notesMaster" Target="/ppt/notesMasters/notesMaster1.xml" Id="R42e501fb7476489d" /><Relationship Type="http://schemas.openxmlformats.org/officeDocument/2006/relationships/presProps" Target="/ppt/presProps.xml" Id="R1cea70b1342b45b3" /><Relationship Type="http://schemas.openxmlformats.org/officeDocument/2006/relationships/tableStyles" Target="/ppt/tableStyles.xml" Id="R0b2b3da202b04595" /><Relationship Type="http://schemas.openxmlformats.org/officeDocument/2006/relationships/slide" Target="/ppt/slides/slide1.xml" Id="R48bae8b675f244dc" /><Relationship Type="http://schemas.openxmlformats.org/officeDocument/2006/relationships/slide" Target="/ppt/slides/slide2.xml" Id="R5fba481eead34301" /><Relationship Type="http://schemas.openxmlformats.org/officeDocument/2006/relationships/slide" Target="/ppt/slides/slide3.xml" Id="R3de876aedcf74281" /><Relationship Type="http://schemas.openxmlformats.org/officeDocument/2006/relationships/slide" Target="/ppt/slides/slide4.xml" Id="Rc907133fa73b4e9b" /><Relationship Type="http://schemas.openxmlformats.org/officeDocument/2006/relationships/slide" Target="/ppt/slides/slide5.xml" Id="R703d525032f746a9" /><Relationship Type="http://schemas.openxmlformats.org/officeDocument/2006/relationships/slide" Target="/ppt/slides/slide6.xml" Id="R6540d934b37844cd" /><Relationship Type="http://schemas.openxmlformats.org/officeDocument/2006/relationships/slide" Target="/ppt/slides/slide7.xml" Id="R247e035d9a98424f" /><Relationship Type="http://schemas.openxmlformats.org/officeDocument/2006/relationships/slide" Target="/ppt/slides/slide8.xml" Id="Rc0e0f702512b42bb" /><Relationship Type="http://schemas.openxmlformats.org/officeDocument/2006/relationships/slide" Target="/ppt/slides/slide9.xml" Id="R790f9e2f764648dd" /><Relationship Type="http://schemas.openxmlformats.org/officeDocument/2006/relationships/slide" Target="/ppt/slides/slide10.xml" Id="R28c46bacc460496d" /><Relationship Type="http://schemas.openxmlformats.org/officeDocument/2006/relationships/slide" Target="/ppt/slides/slide11.xml" Id="Rc7c443ae85924335" /><Relationship Type="http://schemas.openxmlformats.org/officeDocument/2006/relationships/slide" Target="/ppt/slides/slide12.xml" Id="Rada51f53d1d842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2dc659342c49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afe24641f24bb3" /><Relationship Type="http://schemas.openxmlformats.org/officeDocument/2006/relationships/notesMaster" Target="/ppt/notesMasters/notesMaster1.xml" Id="R54cfed3dd41940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ff3b351f994c8b" /><Relationship Type="http://schemas.openxmlformats.org/officeDocument/2006/relationships/notesMaster" Target="/ppt/notesMasters/notesMaster1.xml" Id="R9f8f47224ef64e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24bf7ee7a74c15" /><Relationship Type="http://schemas.openxmlformats.org/officeDocument/2006/relationships/notesMaster" Target="/ppt/notesMasters/notesMaster1.xml" Id="Re1c14acad2b740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ae84d6fd954721" /><Relationship Type="http://schemas.openxmlformats.org/officeDocument/2006/relationships/notesMaster" Target="/ppt/notesMasters/notesMaster1.xml" Id="R5f0bbc78aac44a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010d0d5faa4949" /><Relationship Type="http://schemas.openxmlformats.org/officeDocument/2006/relationships/notesMaster" Target="/ppt/notesMasters/notesMaster1.xml" Id="Rc4605a6eb5be49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7be29054c341ad" /><Relationship Type="http://schemas.openxmlformats.org/officeDocument/2006/relationships/notesMaster" Target="/ppt/notesMasters/notesMaster1.xml" Id="R349cf149132847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64e6c7dcc64844" /><Relationship Type="http://schemas.openxmlformats.org/officeDocument/2006/relationships/notesMaster" Target="/ppt/notesMasters/notesMaster1.xml" Id="Ra1cb3ebd166345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0b77ad0e5c48e4" /><Relationship Type="http://schemas.openxmlformats.org/officeDocument/2006/relationships/notesMaster" Target="/ppt/notesMasters/notesMaster1.xml" Id="R6898988481b645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d62cca25d5457b" /><Relationship Type="http://schemas.openxmlformats.org/officeDocument/2006/relationships/notesMaster" Target="/ppt/notesMasters/notesMaster1.xml" Id="Rce9cd3c6119b46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fb4502f63846ee" /><Relationship Type="http://schemas.openxmlformats.org/officeDocument/2006/relationships/notesMaster" Target="/ppt/notesMasters/notesMaster1.xml" Id="Rbe3867536f554d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c56dfa891e4c17" /><Relationship Type="http://schemas.openxmlformats.org/officeDocument/2006/relationships/notesMaster" Target="/ppt/notesMasters/notesMaster1.xml" Id="Rb1279bfd5b7c46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4c83c4357947d0" /><Relationship Type="http://schemas.openxmlformats.org/officeDocument/2006/relationships/notesMaster" Target="/ppt/notesMasters/notesMaster1.xml" Id="Rbf47d7ae780249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be3d888614f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93d0ab7225439d" /><Relationship Type="http://schemas.openxmlformats.org/officeDocument/2006/relationships/slideLayout" Target="/ppt/slideLayouts/slideLayout1.xml" Id="Re2703dbb4b684e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703dbb4b684e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c84983dfc40e4" /><Relationship Type="http://schemas.openxmlformats.org/officeDocument/2006/relationships/notesSlide" Target="/ppt/notesSlides/notesSlide1.xml" Id="R08d442f2e6e44f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d78e3ad734ca4" /><Relationship Type="http://schemas.openxmlformats.org/officeDocument/2006/relationships/image" Target="/ppt/media/image.png" Id="Rf43a7590ae8a4808" /><Relationship Type="http://schemas.openxmlformats.org/officeDocument/2006/relationships/notesSlide" Target="/ppt/notesSlides/notesSlide2.xml" Id="Raf98d6ad19714e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b400ff25b4b54" /><Relationship Type="http://schemas.openxmlformats.org/officeDocument/2006/relationships/notesSlide" Target="/ppt/notesSlides/notesSlide3.xml" Id="Rfa90153a60904b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ba636484d4fb1" /><Relationship Type="http://schemas.openxmlformats.org/officeDocument/2006/relationships/notesSlide" Target="/ppt/notesSlides/notesSlide4.xml" Id="Rf16233f5e8af49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1d3cd7f1f4cae" /><Relationship Type="http://schemas.openxmlformats.org/officeDocument/2006/relationships/notesSlide" Target="/ppt/notesSlides/notesSlide5.xml" Id="Rb3db86f22c0542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cd906d3ed4341" /><Relationship Type="http://schemas.openxmlformats.org/officeDocument/2006/relationships/chart" Target="/ppt/slides/charts/chart1.xml" Id="R31e49b6140544487" /><Relationship Type="http://schemas.openxmlformats.org/officeDocument/2006/relationships/notesSlide" Target="/ppt/notesSlides/notesSlide6.xml" Id="R07e1e3650f8e4e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33113e0b142b9" /><Relationship Type="http://schemas.openxmlformats.org/officeDocument/2006/relationships/chart" Target="/ppt/slides/charts/chart2.xml" Id="R1f82885bfe8f4f5d" /><Relationship Type="http://schemas.openxmlformats.org/officeDocument/2006/relationships/notesSlide" Target="/ppt/notesSlides/notesSlide7.xml" Id="Rc3732f260aac4b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9f1819e4f4202" /><Relationship Type="http://schemas.openxmlformats.org/officeDocument/2006/relationships/image" Target="/ppt/media/image2.png" Id="R3938e41215e9459f" /><Relationship Type="http://schemas.openxmlformats.org/officeDocument/2006/relationships/notesSlide" Target="/ppt/notesSlides/notesSlide8.xml" Id="Rf2abdfed6edf4f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e4a99e4044778" /><Relationship Type="http://schemas.openxmlformats.org/officeDocument/2006/relationships/image" Target="/ppt/media/image3.png" Id="R5756043aa1e94ad5" /><Relationship Type="http://schemas.openxmlformats.org/officeDocument/2006/relationships/image" Target="/ppt/media/image4.png" Id="Rf21637a3abe64e46" /><Relationship Type="http://schemas.openxmlformats.org/officeDocument/2006/relationships/image" Target="/ppt/media/image5.png" Id="R9bd4c31f42924c1d" /><Relationship Type="http://schemas.openxmlformats.org/officeDocument/2006/relationships/notesSlide" Target="/ppt/notesSlides/notesSlide9.xml" Id="R7dcf38eede9147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65f77addb4519" /><Relationship Type="http://schemas.openxmlformats.org/officeDocument/2006/relationships/notesSlide" Target="/ppt/notesSlides/notesSlide10.xml" Id="Rc5b1abc6112e41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be25f3f31450e" /><Relationship Type="http://schemas.openxmlformats.org/officeDocument/2006/relationships/notesSlide" Target="/ppt/notesSlides/notesSlide11.xml" Id="R48a68213e6324d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ff40f2eb44022" /><Relationship Type="http://schemas.openxmlformats.org/officeDocument/2006/relationships/notesSlide" Target="/ppt/notesSlides/notesSlide12.xml" Id="R72de64e6e40a427d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True width 0.10 mm</c:v>
          </c:tx>
          <c:spPr>
            <a:ln xmlns:a="http://schemas.openxmlformats.org/drawingml/2006/main" w="38100">
              <a:solidFill>
                <a:srgbClr val="D98A2B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D98A2B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0.835</c:v>
              </c:pt>
              <c:pt idx="1">
                <c:v>0.655</c:v>
              </c:pt>
              <c:pt idx="2">
                <c:v>0.46</c:v>
              </c:pt>
              <c:pt idx="3">
                <c:v>0.035</c:v>
              </c:pt>
            </c:numLit>
          </c:val>
        </c:ser>
        <c:ser>
          <c:idx val="1"/>
          <c:order val="1"/>
          <c:tx>
            <c:v>True width 0.20 mm</c:v>
          </c:tx>
          <c:spPr>
            <a:ln xmlns:a="http://schemas.openxmlformats.org/drawingml/2006/main" w="28575">
              <a:solidFill>
                <a:srgbClr val="B9A047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B9A047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0.925</c:v>
              </c:pt>
              <c:pt idx="1">
                <c:v>0.865</c:v>
              </c:pt>
              <c:pt idx="2">
                <c:v>0.79</c:v>
              </c:pt>
              <c:pt idx="3">
                <c:v>0.355</c:v>
              </c:pt>
            </c:numLit>
          </c:val>
        </c:ser>
        <c:ser>
          <c:idx val="2"/>
          <c:order val="2"/>
          <c:tx>
            <c:v>True width 0.50 mm</c:v>
          </c:tx>
          <c:spPr>
            <a:ln xmlns:a="http://schemas.openxmlformats.org/drawingml/2006/main" w="28575">
              <a:solidFill>
                <a:srgbClr val="26739B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26739B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1</c:v>
              </c:pt>
              <c:pt idx="1">
                <c:v>0.985</c:v>
              </c:pt>
              <c:pt idx="2">
                <c:v>0.98</c:v>
              </c:pt>
              <c:pt idx="3">
                <c:v>0.84</c:v>
              </c:pt>
            </c:numLit>
          </c:val>
        </c:ser>
        <c:ser>
          <c:idx val="3"/>
          <c:order val="3"/>
          <c:tx>
            <c:v>True width 1.00 mm</c:v>
          </c:tx>
          <c:spPr>
            <a:ln xmlns:a="http://schemas.openxmlformats.org/drawingml/2006/main" w="38100">
              <a:solidFill>
                <a:srgbClr val="23837B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23837B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0.995</c:v>
              </c:pt>
              <c:pt idx="1">
                <c:v>0.99</c:v>
              </c:pt>
              <c:pt idx="2">
                <c:v>0.99</c:v>
              </c:pt>
              <c:pt idx="3">
                <c:v>0.925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Physical increment (mm)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1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Overlap within 20 tests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BFCFD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20-test budget</c:v>
          </c:tx>
          <c:spPr>
            <a:solidFill xmlns:a="http://schemas.openxmlformats.org/drawingml/2006/main">
              <a:srgbClr val="26739B"/>
            </a:solidFill>
          </c:spPr>
          <c:cat>
            <c:strLit>
              <c:ptCount val="3"/>
              <c:pt idx="0">
                <c:v>No floor</c:v>
              </c:pt>
              <c:pt idx="1">
                <c:v>1 × increment</c:v>
              </c:pt>
              <c:pt idx="2">
                <c:v>2 × increment</c:v>
              </c:pt>
            </c:strLit>
          </c:cat>
          <c:val>
            <c:numLit>
              <c:formatCode>0.00%</c:formatCode>
              <c:ptCount val="3"/>
              <c:pt idx="0">
                <c:v>0.9402314814814815</c:v>
              </c:pt>
              <c:pt idx="1">
                <c:v>0.9336111111111114</c:v>
              </c:pt>
              <c:pt idx="2">
                <c:v>0.9353703703703705</c:v>
              </c:pt>
            </c:numLit>
          </c:val>
        </c:ser>
        <c:ser>
          <c:idx val="1"/>
          <c:order val="1"/>
          <c:tx>
            <c:v>50-test budget</c:v>
          </c:tx>
          <c:spPr>
            <a:solidFill xmlns:a="http://schemas.openxmlformats.org/drawingml/2006/main">
              <a:srgbClr val="23837B"/>
            </a:solidFill>
          </c:spPr>
          <c:cat>
            <c:strLit>
              <c:ptCount val="3"/>
              <c:pt idx="0">
                <c:v>No floor</c:v>
              </c:pt>
              <c:pt idx="1">
                <c:v>1 × increment</c:v>
              </c:pt>
              <c:pt idx="2">
                <c:v>2 × increment</c:v>
              </c:pt>
            </c:strLit>
          </c:cat>
          <c:val>
            <c:numLit>
              <c:formatCode>0.00%</c:formatCode>
              <c:ptCount val="3"/>
              <c:pt idx="0">
                <c:v>0.9784259259259259</c:v>
              </c:pt>
              <c:pt idx="1">
                <c:v>0.9857407407407405</c:v>
              </c:pt>
              <c:pt idx="2">
                <c:v>0.9970370370370369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4273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88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1D7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BFCFD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B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D57D5-36E6-47A8-8706-24B800BD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Neyer Gap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86D56-7E2B-46E3-B759-B076BD0C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828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MATLAB implementation audit and V1.9 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7C40A-B74A-4542-9A79-541D656A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44767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A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2B599-9700-4A5A-9951-574675C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1714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36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32137-C6BA-40D1-AB45-E08A941D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43250"/>
            <a:ext cx="44767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3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08BC5-4E84-4E8F-B7C6-1722B091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Decreasing-interaction gap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49418-6C72-4574-ACD7-682BF76F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Standalone MATLAB R2022b Live Script</a:t>
            </a:r>
          </a:p>
          <a:p xmlns:a="http://schemas.openxmlformats.org/drawingml/2006/main">
            <a:pPr algn="l">
              <a:defRPr sz="150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Audit • physical workflow • simulation evidence •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44A24-D84D-498C-852C-972123D7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BD1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BD1DC"/>
                </a:solidFill>
                <a:latin typeface="Aptos"/>
                <a:ea typeface="Aptos"/>
                <a:cs typeface="Aptos"/>
              </a:rPr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587066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A5D61D-84C8-4A3C-A46E-B031EC8B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What the method estimates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0CC91-7BE7-47A9-8B94-5992A2C1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DEFD6-3DB2-44BE-8CF0-3BD53B0E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a7590ae8a4808"/>
          <a:stretch xmlns:a="http://schemas.openxmlformats.org/drawingml/2006/main"/>
        </p:blipFill>
        <p:spPr>
          <a:xfrm xmlns:a="http://schemas.openxmlformats.org/drawingml/2006/main">
            <a:off x="590550" y="1483265"/>
            <a:ext cx="6191250" cy="42153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CB84F5-6F5F-4125-BD75-FD093978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430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673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6739B"/>
                </a:solidFill>
                <a:latin typeface="Aptos"/>
                <a:ea typeface="Aptos"/>
                <a:cs typeface="Aptos"/>
              </a:rPr>
              <a:t>Middle gap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8D8E0-6386-4B43-9230-79C340EF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1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The gap with about 50% interaction chance.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402F1-71BF-4721-B0B7-FE00358E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76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Transition width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D33FAF-7EE9-4D42-9B6B-9D6A2124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86125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How quickly the material response changes around the middle.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79523-A7EB-4529-9E3A-EA6408B7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10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Smaller gap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01C5B-B037-4681-BFB3-6F4BE095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14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interaction likely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FE8C65-609D-4FD9-9AE2-C0B01D56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10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Larger gap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64E0D-716E-4E7A-940E-2C720E30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14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interaction unlikely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BAF9E-2AF6-4B36-9E33-9F1AAB10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10200"/>
            <a:ext cx="3714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1D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B0692C-1573-4598-A8E6-F1F3F80B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10200"/>
            <a:ext cx="1619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A2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894919-8F44-4AB5-A369-531C81AA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410200"/>
            <a:ext cx="1524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37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55349-E32B-41CC-A8E3-9178EC13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15191603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B18F5-5B2A-4377-9679-33CC64D2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V1.8 audit findings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679EA-E29F-49A8-8F1D-668F16BC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81BFE-EE9A-4780-842D-CF8B77B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352550"/>
          <a:ext xmlns:a="http://schemas.openxmlformats.org/drawingml/2006/main" cx="109728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78702"/>
                <a:gridCol w="3957403"/>
                <a:gridCol w="5036695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Area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V1.8 did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Audit result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Stage 1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Simplified outward doubling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Reference table matched, general paper rule did not</a:t>
                      </a:r>
                    </a:p>
                  </a:txBody>
                  <a:tcPr marL="85725" marR="85725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Stage 2 transition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Used 1.5 × guessed sigma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Historical reconstruction, not Neyer's rule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0.8 shrink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Setting existed but stayed inactive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Repeated Stage-2 behavior did not match</a:t>
                      </a:r>
                    </a:p>
                  </a:txBody>
                  <a:tcPr marL="85725" marR="85725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MLE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Probit likelihood with positive sigma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Core method matched; numerical depth remains a limitation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D-optimal point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Maximised information determinant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Core rule matched; grid and fence are engineering choices</a:t>
                      </a:r>
                    </a:p>
                  </a:txBody>
                  <a:tcPr marL="85725" marR="85725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Rounding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Two decimal places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Reproduced Table 1 but did not describe the physical tool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Stopping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Fixed budget, no estimate without overlap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Sound; repeated boundary clamping needed a safe pause</a:t>
                      </a:r>
                    </a:p>
                  </a:txBody>
                  <a:tcPr marL="85725" marR="85725" marT="57150" marB="5715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C18A5-3806-4EBF-9DB0-6E624F24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Original V1.8 remains unchanged and hash-matched</a:t>
            </a:r>
          </a:p>
        </p:txBody>
      </p:sp>
    </p:spTree>
    <p:extLst>
      <p:ext uri="{BB962C8B-B14F-4D97-AF65-F5344CB8AC3E}">
        <p14:creationId xmlns:p14="http://schemas.microsoft.com/office/powerpoint/2010/main" val="13838535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F08359-8069-4B57-94B7-AB16E7B4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The Stage 2 correction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0D6A54-F4F9-4E69-8582-4420C4D4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560DD-1989-415E-A67B-B640C50C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28B2D-976B-4FA6-9AB6-D9331742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1.5 × sigma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8FD7D-5354-49C2-A4AD-9BDCC83F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409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This threshold was chosen while reconstructing Table 1. The paper uses one guessed sigma.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0339D-657B-48D6-83C4-5EE5BA48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0.8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BFE14-10A5-4527-87B3-5D69EAFF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After each Part-2 test, multiply the working sigma by 0.8.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381625" y="1562100"/>
          <a:ext xmlns:a="http://schemas.openxmlformats.org/drawingml/2006/main" cx="6096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41120"/>
                <a:gridCol w="2072640"/>
                <a:gridCol w="2682240"/>
              </a:tblGrid>
              <a:tr h="78581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State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action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Exit condition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Part 1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Bisect the response bracket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Bracket width reaches 1.0 guessed sigma</a:t>
                      </a:r>
                    </a:p>
                  </a:txBody>
                  <a:tcPr marL="85725" marR="85725" marT="57150" marB="57150"/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Part 2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One-way D-optimal selection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Yes and No results strictly overlap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After each Part-2 test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Working sigma × 0.8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Never return to bisection</a:t>
                      </a:r>
                    </a:p>
                  </a:txBody>
                  <a:tcPr marL="85725" marR="85725" marT="57150" marB="5715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F8A72-F5C1-41D8-90B7-569B3941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482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Table 1 hid the problem because its first D-optimal test created overlap immediately.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60EBC-85ED-4B8C-BCF9-4FF5C497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15919167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F31B2-924A-4704-95B1-922311F2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Physical gap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F4C7A-2C40-4C87-A5F5-5C8E5023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E63A0-6294-49C0-8CDE-9424AFE9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17558"/>
                <a:gridCol w="4235116"/>
                <a:gridCol w="4620126"/>
              </a:tblGrid>
              <a:tr h="642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Gap value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 meaning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Use in V1.9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Requested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Mathematical best next point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Kept in the audit record</a:t>
                      </a:r>
                    </a:p>
                  </a:txBody>
                  <a:tcPr marL="85725" marR="85725" marT="57150" marB="5715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Reachable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Nearest different buildable and useful setting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Shown to the operator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Measured mean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Average of 4 or 5 readings on this new build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Used as the statistical gap</a:t>
                      </a:r>
                    </a:p>
                  </a:txBody>
                  <a:tcPr marL="85725" marR="85725" marT="57150" marB="5715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AC0AB-EAE0-4459-B8BC-7817F79E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Each destructive test uses a new spacer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C5807-6C87-4DB5-A211-EAEDC8FB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Build the requested reachable setting. Measure the unchanged setup four or five times before testing. Enter all readings, then record Interaction or No interaction. Do not reuse the melted spacer.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A8097-FC9B-4A91-9521-E6D5CF51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3214715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D2DFF0-7C4E-45CC-A72F-B116364C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Equipment resolution changes Stage 2 performance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B96B1-EA94-42F4-8661-1621AE96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97F9B-114B-40BA-B559-3F445F10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78105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e49b614054448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52DED-027F-44EC-969C-92DDCD58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90700"/>
            <a:ext cx="2714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0.10 mm is workable when the true transition is broad. It becomes restrictive when the transition itself is near 0.10 mm.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4A88B-2E65-401B-9006-C14DA4AD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2437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32 settings × 200 paired 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599F0-9554-4405-9780-3F1BA79C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Source: increment-study-results.csv</a:t>
            </a:r>
          </a:p>
        </p:txBody>
      </p:sp>
    </p:spTree>
    <p:extLst>
      <p:ext uri="{BB962C8B-B14F-4D97-AF65-F5344CB8AC3E}">
        <p14:creationId xmlns:p14="http://schemas.microsoft.com/office/powerpoint/2010/main" val="20338535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EAAA2-4496-4AA0-8FD3-A7F5E0CC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Corrected physical simulation: 129,600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3C074-6D4C-468D-970C-8F0C1BE2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C5ADD-2876-4E72-B8A3-F89B29C1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7239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82885bfe8f4f5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3C4AD-DBA4-4FA2-9CA2-D6948324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919"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2 × increment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6DC73-46BD-4BBB-9A70-1479AE1F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Chosen as the Stage-2 working-sigma floor.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16386-282F-4BF0-8565-F6539856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At 50 tests: 99.70% actual overlap, 0.009% false overlap.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ADC13-F0E5-4938-859E-763E85E6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81500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These corrected values replace the earlier simulation, which used the requested gap—not the actual built gap—to decide the outcome.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7531CF-7BF6-4C02-8634-69011511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432 scenarios × 300 repetitions · outcome uses actual built gap</a:t>
            </a:r>
          </a:p>
        </p:txBody>
      </p:sp>
    </p:spTree>
    <p:extLst>
      <p:ext uri="{BB962C8B-B14F-4D97-AF65-F5344CB8AC3E}">
        <p14:creationId xmlns:p14="http://schemas.microsoft.com/office/powerpoint/2010/main" val="12190871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F46F7-FF4B-43E5-9CBE-F04BA46D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Boundaries and safe stopping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1A13E-0EBE-4CBA-B13A-C25D2913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782B3-EC01-4772-8740-1EE1D014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8e41215e9459f"/>
          <a:stretch xmlns:a="http://schemas.openxmlformats.org/drawingml/2006/main"/>
        </p:blipFill>
        <p:spPr>
          <a:xfrm xmlns:a="http://schemas.openxmlformats.org/drawingml/2006/main">
            <a:off x="6572250" y="1676678"/>
            <a:ext cx="4762500" cy="321889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B057E-6032-4FB5-A06D-2ECDF553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6739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6739B"/>
                </a:solidFill>
                <a:latin typeface="Aptos"/>
                <a:ea typeface="Aptos"/>
                <a:cs typeface="Aptos"/>
              </a:rPr>
              <a:t>Default study range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1788D2-4047-4FD1-A7CE-FC2775D0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0 mm to 10 mm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A087E0-8CAE-42A6-8FA3-893961D6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Unexpected result at a boundary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9E8FE-0D71-453B-9616-E80DDB89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Repeat that same boundary once for confirmation.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1898A-8180-4617-AF7E-45A1806C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Same contradiction twice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8AAAF-295C-401D-939C-86DB92F3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Pause for review and preserve the data. The software does not label the whole experiment a failure.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8C602-95A7-4A98-949B-5534E98D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4236788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6579CF-8FCD-4439-8941-C06E6BE1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Operator screens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93E73-FC61-4E11-AFD5-E8D68745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8F814-04B9-47FA-BF50-76546760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6043aa1e94ad5"/>
          <a:stretch xmlns:a="http://schemas.openxmlformats.org/drawingml/2006/main"/>
        </p:blipFill>
        <p:spPr>
          <a:xfrm xmlns:a="http://schemas.openxmlformats.org/drawingml/2006/main">
            <a:off x="609600" y="1854994"/>
            <a:ext cx="3286125" cy="2957513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637a3abe64e46"/>
          <a:stretch xmlns:a="http://schemas.openxmlformats.org/drawingml/2006/main"/>
        </p:blipFill>
        <p:spPr>
          <a:xfrm xmlns:a="http://schemas.openxmlformats.org/drawingml/2006/main">
            <a:off x="4333875" y="1791644"/>
            <a:ext cx="3286125" cy="3084213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4c31f42924c1d"/>
          <a:stretch xmlns:a="http://schemas.openxmlformats.org/drawingml/2006/main"/>
        </p:blipFill>
        <p:spPr>
          <a:xfrm xmlns:a="http://schemas.openxmlformats.org/drawingml/2006/main">
            <a:off x="8058150" y="1918891"/>
            <a:ext cx="3286125" cy="282971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5E577-8501-4A1A-9181-AB191910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Main menu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63AED-1A3B-49E3-86A0-00C1CB8D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42925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Physical settings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DB695-BDDC-4453-81ED-B5D7304D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2925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Operating help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C8EEB-0BFC-4071-A50B-54EDAF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986587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E5342-56D7-4D99-941D-61DD3AB5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Running V1.9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95E04-376C-41FD-B035-86B11A5F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42373-C06E-4AE2-B649-0FDE7251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1381125"/>
          <a:ext xmlns:a="http://schemas.openxmlformats.org/drawingml/2006/main" cx="10810875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66750"/>
                <a:gridCol w="3864429"/>
                <a:gridCol w="6279696"/>
              </a:tblGrid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85725" marR="85725" marT="57150" marB="57150">
                    <a:solidFill>
                      <a:srgbClr val="2673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Open and run the Live Script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Neyer_Gap_Test_v1_9.mlx in MATLAB R2022b</a:t>
                      </a:r>
                    </a:p>
                  </a:txBody>
                  <a:tcPr marL="85725" marR="85725" marT="57150" marB="57150"/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85725" marR="85725" marT="57150" marB="57150">
                    <a:solidFill>
                      <a:srgbClr val="2383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Verify the build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Run a Demo should return 5.3922 mm and 1.0412 mm</a:t>
                      </a:r>
                    </a:p>
                  </a:txBody>
                  <a:tcPr marL="85725" marR="85725" marT="57150" marB="57150"/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85725" marR="85725" marT="57150" marB="57150">
                    <a:solidFill>
                      <a:srgbClr val="2673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Enter the study setup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Use 0–10 mm, test budget, guessed width, and confirmed increment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85725" marR="85725" marT="57150" marB="57150">
                    <a:solidFill>
                      <a:srgbClr val="2383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Build and measure each new spacer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Enter four or five readings before the destructive test</a:t>
                      </a:r>
                    </a:p>
                  </a:txBody>
                  <a:tcPr marL="85725" marR="85725" marT="57150" marB="57150"/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85725" marR="85725" marT="57150" marB="57150">
                    <a:solidFill>
                      <a:srgbClr val="2673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Record the outcome and continue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Choose Interaction or No interaction, then save the final results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8407A-3BB6-479C-BF04-B230FC1D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No executable, helper folder, addpath, internet connection, or add-on package required</a:t>
            </a:r>
          </a:p>
        </p:txBody>
      </p:sp>
    </p:spTree>
    <p:extLst>
      <p:ext uri="{BB962C8B-B14F-4D97-AF65-F5344CB8AC3E}">
        <p14:creationId xmlns:p14="http://schemas.microsoft.com/office/powerpoint/2010/main" val="6166401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8CBB7-278B-4F7B-88AA-D6C5C3EB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Saving result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FFB1D-78DA-4FD4-A060-2506C184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FE90E-CD30-4006-A688-C57D7F6A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82B49-508F-4584-90E9-3619CBD0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The operator chooses the folder and base name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2095500"/>
          <a:ext xmlns:a="http://schemas.openxmlformats.org/drawingml/2006/main" cx="10810875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49502"/>
                <a:gridCol w="4430686"/>
                <a:gridCol w="4430686"/>
              </a:tblGrid>
              <a:tr h="730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Complete path shown before saving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Contents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CSV data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&lt;selected folder&gt;\&lt;chosen name&gt;.csv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Every requested, reachable, measured, and outcome value</a:t>
                      </a:r>
                    </a:p>
                  </a:txBody>
                  <a:tcPr marL="85725" marR="85725" marT="57150" marB="5715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HTML result report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&lt;selected folder&gt;\&lt;chosen name&gt;.html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Self-contained summary, estimates, and chart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89F05-313C-4BEC-9917-4A952A5B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6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No silent overwrite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713847-43BA-40E0-949F-30326247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If either intended file already exists, the app writes neither file and asks for a different name.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99736-6E2D-4B6C-BCF9-6666235F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The selected folder remains visible in both complete paths before the user confirms</a:t>
            </a:r>
          </a:p>
        </p:txBody>
      </p:sp>
    </p:spTree>
    <p:extLst>
      <p:ext uri="{BB962C8B-B14F-4D97-AF65-F5344CB8AC3E}">
        <p14:creationId xmlns:p14="http://schemas.microsoft.com/office/powerpoint/2010/main" val="3509947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3B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432F1B-4841-410A-815E-8AEF367C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EA479-62E9-4D17-BF42-38B44B3F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23950"/>
            <a:ext cx="10934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8078E-2AD1-4957-8FF6-91AC05EF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3974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95 / 95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5D869-6E76-49CF-A808-441FAD32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MATLAB regression tests passed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19435-FF2F-49E7-A1C0-E5E2250A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3974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file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573CF-D307-4B04-A518-58072E75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Live Script ran alone in an empty folder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DD806-D179-4BAC-A464-527B27D5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621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037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5.3922 / 1.0412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156CF-8D14-4C95-A655-7A756DB1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Embedded demo 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E7368-2709-4FB9-A89A-7272DDA1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1432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V1.8 preserved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800E1-44CE-444C-B393-CDBAD0D8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909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Original and audit copy hashes remain identical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27EBC-FE20-4A3D-8B85-1C98B057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76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A2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91447-AC9D-48F9-A924-146DA93E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EAF2"/>
                </a:solidFill>
                <a:latin typeface="Aptos"/>
                <a:ea typeface="Aptos"/>
                <a:cs typeface="Aptos"/>
              </a:rPr>
              <a:t>Final package folder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B7630-35F0-464A-9825-9FA2D6A2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OneDrive\CHATGPT-Neyer\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4FF55-39D9-4DFC-B95D-16B29316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D49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2D49D"/>
                </a:solidFill>
                <a:latin typeface="Aptos"/>
                <a:ea typeface="Aptos"/>
                <a:cs typeface="Aptos"/>
              </a:rPr>
              <a:t>Operator decision still required: confirm whether the real increment is 0.05 mm or 0.10 mm.</a:t>
            </a:r>
          </a:p>
        </p:txBody>
      </p:sp>
    </p:spTree>
    <p:extLst>
      <p:ext uri="{BB962C8B-B14F-4D97-AF65-F5344CB8AC3E}">
        <p14:creationId xmlns:p14="http://schemas.microsoft.com/office/powerpoint/2010/main" val="9511815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2026-09-07T07:26:57.0940000Z</dcterms:created>
  <dcterms:modified xsi:type="dcterms:W3CDTF">2026-09-07T07:26:57.0940000Z</dcterms:modified>
</coreProperties>
</file>